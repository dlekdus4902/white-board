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7" r:id="rId5"/>
    <p:sldId id="282" r:id="rId6"/>
    <p:sldId id="281" r:id="rId7"/>
    <p:sldId id="278" r:id="rId8"/>
    <p:sldId id="283" r:id="rId9"/>
    <p:sldId id="279" r:id="rId10"/>
    <p:sldId id="280" r:id="rId11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4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4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39.svg"/><Relationship Id="rId5" Type="http://schemas.openxmlformats.org/officeDocument/2006/relationships/image" Target="../media/image36.png"/><Relationship Id="rId10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6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12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22.png"/><Relationship Id="rId5" Type="http://schemas.openxmlformats.org/officeDocument/2006/relationships/image" Target="../media/image35.png"/><Relationship Id="rId15" Type="http://schemas.openxmlformats.org/officeDocument/2006/relationships/image" Target="../media/image39.svg"/><Relationship Id="rId10" Type="http://schemas.openxmlformats.org/officeDocument/2006/relationships/image" Target="../media/image1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7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12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22.png"/><Relationship Id="rId5" Type="http://schemas.openxmlformats.org/officeDocument/2006/relationships/image" Target="../media/image35.png"/><Relationship Id="rId10" Type="http://schemas.openxmlformats.org/officeDocument/2006/relationships/image" Target="../media/image1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Relationship Id="rId1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35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2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51.png"/><Relationship Id="rId5" Type="http://schemas.openxmlformats.org/officeDocument/2006/relationships/image" Target="../media/image22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1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59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58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57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82531" y="2937927"/>
            <a:ext cx="13085714" cy="1138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6800" b="1" dirty="0">
                <a:solidFill>
                  <a:srgbClr val="000000"/>
                </a:solidFill>
                <a:latin typeface="Pretendard Light" pitchFamily="34" charset="0"/>
              </a:rPr>
              <a:t>네트워크 프로그래밍 제안서</a:t>
            </a:r>
            <a:endParaRPr lang="en-US" dirty="0"/>
          </a:p>
        </p:txBody>
      </p:sp>
      <p:sp>
        <p:nvSpPr>
          <p:cNvPr id="10" name="Object 10"/>
          <p:cNvSpPr txBox="1"/>
          <p:nvPr/>
        </p:nvSpPr>
        <p:spPr>
          <a:xfrm>
            <a:off x="1520026" y="4738879"/>
            <a:ext cx="347045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202214313 </a:t>
            </a:r>
            <a:r>
              <a:rPr lang="ko-KR" altLang="en-US" sz="3200" dirty="0" err="1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이다연</a:t>
            </a:r>
            <a:endParaRPr lang="en-US" altLang="ko-KR" sz="3200" dirty="0">
              <a:solidFill>
                <a:srgbClr val="000000"/>
              </a:solidFill>
              <a:latin typeface="Pretendard Light" pitchFamily="34" charset="0"/>
              <a:cs typeface="Pretendard Light" pitchFamily="34" charset="0"/>
            </a:endParaRPr>
          </a:p>
          <a:p>
            <a:r>
              <a:rPr lang="en-US" sz="32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202214319 </a:t>
            </a:r>
            <a:r>
              <a:rPr lang="ko-KR" altLang="en-US" sz="32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한지민</a:t>
            </a:r>
            <a:endParaRPr lang="en-US" sz="3200" dirty="0">
              <a:solidFill>
                <a:srgbClr val="000000"/>
              </a:solidFill>
              <a:latin typeface="Pretendard Light" pitchFamily="34" charset="0"/>
              <a:cs typeface="Pretendard Light" pitchFamily="34" charset="0"/>
            </a:endParaRPr>
          </a:p>
          <a:p>
            <a:r>
              <a:rPr lang="en-US" sz="32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201912315 </a:t>
            </a:r>
            <a:r>
              <a:rPr lang="ko-KR" altLang="en-US" sz="3200" dirty="0" err="1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김성유</a:t>
            </a:r>
            <a:endParaRPr lang="en-US" sz="3200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1011329" y="7660714"/>
            <a:ext cx="4363548" cy="731349"/>
            <a:chOff x="1011329" y="7660714"/>
            <a:chExt cx="4363548" cy="731349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409524" y="7660714"/>
              <a:ext cx="3580952" cy="731349"/>
              <a:chOff x="1409524" y="7660714"/>
              <a:chExt cx="3580952" cy="731349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409524" y="7660714"/>
                <a:ext cx="3580952" cy="731349"/>
              </a:xfrm>
              <a:prstGeom prst="rect">
                <a:avLst/>
              </a:prstGeom>
            </p:spPr>
          </p:pic>
        </p:grpSp>
        <p:sp>
          <p:nvSpPr>
            <p:cNvPr id="16" name="Object 16"/>
            <p:cNvSpPr txBox="1"/>
            <p:nvPr/>
          </p:nvSpPr>
          <p:spPr>
            <a:xfrm>
              <a:off x="1011329" y="7828307"/>
              <a:ext cx="4363548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Pretendard Light" pitchFamily="34" charset="0"/>
                </a:rPr>
                <a:t>Network Programming</a:t>
              </a:r>
              <a:endParaRPr lang="en-US" dirty="0"/>
            </a:p>
          </p:txBody>
        </p:sp>
      </p:grpSp>
      <p:grpSp>
        <p:nvGrpSpPr>
          <p:cNvPr id="1005" name="그룹 1005"/>
          <p:cNvGrpSpPr/>
          <p:nvPr/>
        </p:nvGrpSpPr>
        <p:grpSpPr>
          <a:xfrm>
            <a:off x="10009524" y="6085714"/>
            <a:ext cx="1201587" cy="1201587"/>
            <a:chOff x="10009524" y="6085714"/>
            <a:chExt cx="1201587" cy="1201587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09524" y="6085714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3485714" y="2713492"/>
            <a:ext cx="1201587" cy="1201587"/>
            <a:chOff x="13485714" y="2713492"/>
            <a:chExt cx="1201587" cy="1201587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85714" y="2713492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5391534" y="2713492"/>
            <a:ext cx="1201587" cy="1201587"/>
            <a:chOff x="15391534" y="2713492"/>
            <a:chExt cx="1201587" cy="1201587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1534" y="2713492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5391534" y="4406878"/>
            <a:ext cx="1201587" cy="1201587"/>
            <a:chOff x="15391534" y="4406878"/>
            <a:chExt cx="1201587" cy="1201587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91534" y="4406878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3485714" y="5850794"/>
            <a:ext cx="1201587" cy="1201587"/>
            <a:chOff x="13485714" y="5850794"/>
            <a:chExt cx="1201587" cy="1201587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85714" y="5850794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1783598" y="7287302"/>
            <a:ext cx="1201587" cy="1201587"/>
            <a:chOff x="11783598" y="7287302"/>
            <a:chExt cx="1201587" cy="120158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83598" y="7287302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1735979" y="4562434"/>
            <a:ext cx="1328571" cy="400794"/>
            <a:chOff x="11735979" y="4562434"/>
            <a:chExt cx="1328571" cy="400794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35979" y="4562434"/>
              <a:ext cx="1328571" cy="400794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5340741" y="6295635"/>
            <a:ext cx="1328571" cy="400794"/>
            <a:chOff x="15340741" y="6295635"/>
            <a:chExt cx="1328571" cy="400794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40741" y="6295635"/>
              <a:ext cx="1328571" cy="400794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4634921" y="3269048"/>
            <a:ext cx="766138" cy="107021"/>
            <a:chOff x="14634921" y="3269048"/>
            <a:chExt cx="766138" cy="107021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634921" y="3269048"/>
              <a:ext cx="766138" cy="107021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5720034" y="4139876"/>
            <a:ext cx="556085" cy="107021"/>
            <a:chOff x="15720034" y="4139876"/>
            <a:chExt cx="556085" cy="107021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-5400000">
              <a:off x="15720034" y="4139876"/>
              <a:ext cx="556085" cy="107021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5374476" y="7217984"/>
            <a:ext cx="1266534" cy="107021"/>
            <a:chOff x="15374476" y="7217984"/>
            <a:chExt cx="1266534" cy="107021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5400000">
              <a:off x="15374476" y="7217984"/>
              <a:ext cx="1266534" cy="107021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2354152" y="3313688"/>
            <a:ext cx="1131563" cy="1286312"/>
            <a:chOff x="12354152" y="3313688"/>
            <a:chExt cx="1131563" cy="1286312"/>
          </a:xfrm>
        </p:grpSpPr>
        <p:pic>
          <p:nvPicPr>
            <p:cNvPr id="52" name="Object 51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354152" y="3313688"/>
              <a:ext cx="1131563" cy="1286312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2354152" y="4919688"/>
            <a:ext cx="1131563" cy="1531899"/>
            <a:chOff x="12354152" y="4919688"/>
            <a:chExt cx="1131563" cy="1531899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354152" y="4919688"/>
              <a:ext cx="1131563" cy="1531899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3652045" y="7357745"/>
            <a:ext cx="857143" cy="107021"/>
            <a:chOff x="13652045" y="7357745"/>
            <a:chExt cx="857143" cy="107021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5400000">
              <a:off x="13652045" y="7357745"/>
              <a:ext cx="857143" cy="107021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2919933" y="7847741"/>
            <a:ext cx="2993487" cy="107021"/>
            <a:chOff x="12919933" y="7847741"/>
            <a:chExt cx="2993487" cy="107021"/>
          </a:xfrm>
        </p:grpSpPr>
        <p:pic>
          <p:nvPicPr>
            <p:cNvPr id="61" name="Object 60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919933" y="7847741"/>
              <a:ext cx="2993487" cy="107021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10374651" y="7431338"/>
            <a:ext cx="502165" cy="107021"/>
            <a:chOff x="10374651" y="7431338"/>
            <a:chExt cx="502165" cy="107021"/>
          </a:xfrm>
        </p:grpSpPr>
        <p:pic>
          <p:nvPicPr>
            <p:cNvPr id="64" name="Object 63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5400000">
              <a:off x="10374651" y="7431338"/>
              <a:ext cx="502165" cy="107021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9933333" y="7687698"/>
            <a:ext cx="1328571" cy="400794"/>
            <a:chOff x="9933333" y="7687698"/>
            <a:chExt cx="1328571" cy="400794"/>
          </a:xfrm>
        </p:grpSpPr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33333" y="7687698"/>
              <a:ext cx="1328571" cy="400794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11254383" y="7888095"/>
            <a:ext cx="537378" cy="14286"/>
            <a:chOff x="11254383" y="7888095"/>
            <a:chExt cx="537378" cy="14286"/>
          </a:xfrm>
        </p:grpSpPr>
        <p:pic>
          <p:nvPicPr>
            <p:cNvPr id="70" name="Object 6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254383" y="7888095"/>
              <a:ext cx="537378" cy="14286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13811874" y="3002161"/>
            <a:ext cx="549267" cy="549143"/>
            <a:chOff x="13811874" y="3002161"/>
            <a:chExt cx="549267" cy="549143"/>
          </a:xfrm>
        </p:grpSpPr>
        <p:pic>
          <p:nvPicPr>
            <p:cNvPr id="73" name="Object 72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811874" y="3002161"/>
              <a:ext cx="549267" cy="549143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15734122" y="3028061"/>
            <a:ext cx="516411" cy="516392"/>
            <a:chOff x="15734122" y="3028061"/>
            <a:chExt cx="516411" cy="516392"/>
          </a:xfrm>
        </p:grpSpPr>
        <p:pic>
          <p:nvPicPr>
            <p:cNvPr id="76" name="Object 75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734122" y="3028061"/>
              <a:ext cx="516411" cy="516392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15726729" y="4738879"/>
            <a:ext cx="537546" cy="537586"/>
            <a:chOff x="15726729" y="4738879"/>
            <a:chExt cx="537546" cy="537586"/>
          </a:xfrm>
        </p:grpSpPr>
        <p:pic>
          <p:nvPicPr>
            <p:cNvPr id="79" name="Object 78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726729" y="4738879"/>
              <a:ext cx="537546" cy="537586"/>
            </a:xfrm>
            <a:prstGeom prst="rect">
              <a:avLst/>
            </a:prstGeom>
          </p:spPr>
        </p:pic>
      </p:grpSp>
      <p:grpSp>
        <p:nvGrpSpPr>
          <p:cNvPr id="1026" name="그룹 1026"/>
          <p:cNvGrpSpPr/>
          <p:nvPr/>
        </p:nvGrpSpPr>
        <p:grpSpPr>
          <a:xfrm>
            <a:off x="13809307" y="6167127"/>
            <a:ext cx="568931" cy="568920"/>
            <a:chOff x="13809307" y="6167127"/>
            <a:chExt cx="568931" cy="568920"/>
          </a:xfrm>
        </p:grpSpPr>
        <p:pic>
          <p:nvPicPr>
            <p:cNvPr id="82" name="Object 81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809307" y="6167127"/>
              <a:ext cx="568931" cy="568920"/>
            </a:xfrm>
            <a:prstGeom prst="rect">
              <a:avLst/>
            </a:prstGeom>
          </p:spPr>
        </p:pic>
      </p:grpSp>
      <p:grpSp>
        <p:nvGrpSpPr>
          <p:cNvPr id="1027" name="그룹 1027"/>
          <p:cNvGrpSpPr/>
          <p:nvPr/>
        </p:nvGrpSpPr>
        <p:grpSpPr>
          <a:xfrm>
            <a:off x="12111942" y="7616083"/>
            <a:ext cx="563947" cy="524977"/>
            <a:chOff x="12111942" y="7616083"/>
            <a:chExt cx="563947" cy="524977"/>
          </a:xfrm>
        </p:grpSpPr>
        <p:pic>
          <p:nvPicPr>
            <p:cNvPr id="85" name="Object 84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111942" y="7616083"/>
              <a:ext cx="563947" cy="524977"/>
            </a:xfrm>
            <a:prstGeom prst="rect">
              <a:avLst/>
            </a:prstGeom>
          </p:spPr>
        </p:pic>
      </p:grpSp>
      <p:grpSp>
        <p:nvGrpSpPr>
          <p:cNvPr id="1028" name="그룹 1028"/>
          <p:cNvGrpSpPr/>
          <p:nvPr/>
        </p:nvGrpSpPr>
        <p:grpSpPr>
          <a:xfrm>
            <a:off x="10314286" y="6328224"/>
            <a:ext cx="602824" cy="678472"/>
            <a:chOff x="10314286" y="6328224"/>
            <a:chExt cx="602824" cy="678472"/>
          </a:xfrm>
        </p:grpSpPr>
        <p:pic>
          <p:nvPicPr>
            <p:cNvPr id="88" name="Object 87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314286" y="6328224"/>
              <a:ext cx="602824" cy="678472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11674098" y="4592472"/>
            <a:ext cx="1439635" cy="3344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Pretendard Medium" pitchFamily="34" charset="0"/>
                <a:cs typeface="Pretendard Medium" pitchFamily="34" charset="0"/>
              </a:rPr>
              <a:t>SYSTEM</a:t>
            </a:r>
            <a:endParaRPr lang="en-US" dirty="0"/>
          </a:p>
        </p:txBody>
      </p:sp>
      <p:sp>
        <p:nvSpPr>
          <p:cNvPr id="91" name="Object 91"/>
          <p:cNvSpPr txBox="1"/>
          <p:nvPr/>
        </p:nvSpPr>
        <p:spPr>
          <a:xfrm>
            <a:off x="14935084" y="6334264"/>
            <a:ext cx="2152584" cy="3108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Pretendard Medium" pitchFamily="34" charset="0"/>
                <a:cs typeface="Pretendard Medium" pitchFamily="34" charset="0"/>
              </a:rPr>
              <a:t>DEVELOPMENT</a:t>
            </a:r>
            <a:endParaRPr lang="en-US" dirty="0"/>
          </a:p>
        </p:txBody>
      </p:sp>
      <p:sp>
        <p:nvSpPr>
          <p:cNvPr id="92" name="Object 92"/>
          <p:cNvSpPr txBox="1"/>
          <p:nvPr/>
        </p:nvSpPr>
        <p:spPr>
          <a:xfrm>
            <a:off x="9758061" y="7702204"/>
            <a:ext cx="1704512" cy="3504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Pretendard Medium" pitchFamily="34" charset="0"/>
                <a:cs typeface="Pretendard Medium" pitchFamily="34" charset="0"/>
              </a:rPr>
              <a:t>PROPOSAL</a:t>
            </a:r>
            <a:endParaRPr lang="en-US" dirty="0"/>
          </a:p>
        </p:txBody>
      </p:sp>
      <p:grpSp>
        <p:nvGrpSpPr>
          <p:cNvPr id="1029" name="그룹 1029"/>
          <p:cNvGrpSpPr/>
          <p:nvPr/>
        </p:nvGrpSpPr>
        <p:grpSpPr>
          <a:xfrm>
            <a:off x="14814831" y="832520"/>
            <a:ext cx="1943831" cy="261610"/>
            <a:chOff x="14814831" y="832520"/>
            <a:chExt cx="1943831" cy="261610"/>
          </a:xfrm>
        </p:grpSpPr>
        <p:grpSp>
          <p:nvGrpSpPr>
            <p:cNvPr id="1030" name="그룹 1030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95" name="Object 94"/>
              <p:cNvPicPr>
                <a:picLocks noChangeAspect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97" name="Object 97"/>
            <p:cNvSpPr txBox="1"/>
            <p:nvPr/>
          </p:nvSpPr>
          <p:spPr>
            <a:xfrm>
              <a:off x="14906414" y="832520"/>
              <a:ext cx="1852248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rgbClr val="000000"/>
                  </a:solidFill>
                  <a:latin typeface="Pretendard Medium" pitchFamily="34" charset="0"/>
                </a:rPr>
                <a:t>  Network Programming</a:t>
              </a:r>
              <a:endParaRPr lang="en-US" dirty="0"/>
            </a:p>
          </p:txBody>
        </p:sp>
      </p:grpSp>
      <p:sp>
        <p:nvSpPr>
          <p:cNvPr id="2" name="Object 8">
            <a:extLst>
              <a:ext uri="{FF2B5EF4-FFF2-40B4-BE49-F238E27FC236}">
                <a16:creationId xmlns:a16="http://schemas.microsoft.com/office/drawing/2014/main" id="{EA07226F-238C-2FB0-FDC3-69C90BC04968}"/>
              </a:ext>
            </a:extLst>
          </p:cNvPr>
          <p:cNvSpPr txBox="1"/>
          <p:nvPr/>
        </p:nvSpPr>
        <p:spPr>
          <a:xfrm>
            <a:off x="1330150" y="2075302"/>
            <a:ext cx="7847455" cy="7848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5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2024 Network Programming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57033" y="1543757"/>
            <a:ext cx="1958943" cy="55000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1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Contents</a:t>
            </a:r>
            <a:endParaRPr lang="en-US" dirty="0"/>
          </a:p>
        </p:txBody>
      </p:sp>
      <p:sp>
        <p:nvSpPr>
          <p:cNvPr id="12" name="Object 12"/>
          <p:cNvSpPr txBox="1"/>
          <p:nvPr/>
        </p:nvSpPr>
        <p:spPr>
          <a:xfrm>
            <a:off x="3380952" y="1374388"/>
            <a:ext cx="8480041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4400" b="1" dirty="0">
                <a:solidFill>
                  <a:srgbClr val="000000"/>
                </a:solidFill>
                <a:latin typeface="Pretendard Light" pitchFamily="34" charset="0"/>
              </a:rPr>
              <a:t>목차</a:t>
            </a:r>
            <a:endParaRPr lang="en-US" dirty="0"/>
          </a:p>
        </p:txBody>
      </p:sp>
      <p:grpSp>
        <p:nvGrpSpPr>
          <p:cNvPr id="1004" name="그룹 1004"/>
          <p:cNvGrpSpPr/>
          <p:nvPr/>
        </p:nvGrpSpPr>
        <p:grpSpPr>
          <a:xfrm>
            <a:off x="1282531" y="3671549"/>
            <a:ext cx="4925101" cy="4966546"/>
            <a:chOff x="1282531" y="3671549"/>
            <a:chExt cx="4925101" cy="4966546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2531" y="3671549"/>
              <a:ext cx="4925101" cy="496654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985102" y="5059793"/>
            <a:ext cx="493281" cy="555183"/>
            <a:chOff x="1985102" y="5059793"/>
            <a:chExt cx="493281" cy="555183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85102" y="5059793"/>
              <a:ext cx="493281" cy="55518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94111" y="3781509"/>
            <a:ext cx="888233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20" name="Object 20"/>
          <p:cNvSpPr txBox="1"/>
          <p:nvPr/>
        </p:nvSpPr>
        <p:spPr>
          <a:xfrm>
            <a:off x="1992178" y="5732542"/>
            <a:ext cx="2941394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3000" b="1" dirty="0">
                <a:solidFill>
                  <a:srgbClr val="000000"/>
                </a:solidFill>
                <a:latin typeface="Pretendard Light" pitchFamily="34" charset="0"/>
              </a:rPr>
              <a:t>주제 소개</a:t>
            </a:r>
            <a:endParaRPr lang="en-US" dirty="0"/>
          </a:p>
        </p:txBody>
      </p:sp>
      <p:sp>
        <p:nvSpPr>
          <p:cNvPr id="21" name="Object 21"/>
          <p:cNvSpPr txBox="1"/>
          <p:nvPr/>
        </p:nvSpPr>
        <p:spPr>
          <a:xfrm>
            <a:off x="1992178" y="6306957"/>
            <a:ext cx="2941389" cy="3539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Subject Overview</a:t>
            </a:r>
            <a:endParaRPr lang="en-US" dirty="0"/>
          </a:p>
        </p:txBody>
      </p:sp>
      <p:sp>
        <p:nvSpPr>
          <p:cNvPr id="22" name="Object 22"/>
          <p:cNvSpPr txBox="1"/>
          <p:nvPr/>
        </p:nvSpPr>
        <p:spPr>
          <a:xfrm>
            <a:off x="1992178" y="7015801"/>
            <a:ext cx="372281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 부원별로 제안한 개발 주제를 보여주고 각 주제의 내용을 요약해서 설명한다</a:t>
            </a:r>
            <a:r>
              <a:rPr lang="en-US" altLang="ko-KR" dirty="0"/>
              <a:t>.</a:t>
            </a:r>
            <a:endParaRPr lang="en-US" dirty="0"/>
          </a:p>
        </p:txBody>
      </p:sp>
      <p:grpSp>
        <p:nvGrpSpPr>
          <p:cNvPr id="1006" name="그룹 1006"/>
          <p:cNvGrpSpPr/>
          <p:nvPr/>
        </p:nvGrpSpPr>
        <p:grpSpPr>
          <a:xfrm>
            <a:off x="14789794" y="845264"/>
            <a:ext cx="1852248" cy="261610"/>
            <a:chOff x="14789794" y="845264"/>
            <a:chExt cx="1852248" cy="261610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25" name="Object 2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27" name="Object 27"/>
            <p:cNvSpPr txBox="1"/>
            <p:nvPr/>
          </p:nvSpPr>
          <p:spPr>
            <a:xfrm>
              <a:off x="14789794" y="845264"/>
              <a:ext cx="1852248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dirty="0">
                  <a:solidFill>
                    <a:srgbClr val="000000"/>
                  </a:solidFill>
                  <a:latin typeface="Pretendard Medium" pitchFamily="34" charset="0"/>
                </a:rPr>
                <a:t> </a:t>
              </a:r>
              <a:endParaRPr lang="en-US" dirty="0"/>
            </a:p>
          </p:txBody>
        </p:sp>
      </p:grpSp>
      <p:grpSp>
        <p:nvGrpSpPr>
          <p:cNvPr id="1008" name="그룹 1008"/>
          <p:cNvGrpSpPr/>
          <p:nvPr/>
        </p:nvGrpSpPr>
        <p:grpSpPr>
          <a:xfrm>
            <a:off x="6680306" y="3671549"/>
            <a:ext cx="4925101" cy="4966546"/>
            <a:chOff x="6680306" y="3671549"/>
            <a:chExt cx="4925101" cy="4966546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0306" y="3671549"/>
              <a:ext cx="4925101" cy="496654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182868" y="3781507"/>
            <a:ext cx="1906278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33" name="Object 33"/>
          <p:cNvSpPr txBox="1"/>
          <p:nvPr/>
        </p:nvSpPr>
        <p:spPr>
          <a:xfrm>
            <a:off x="7389952" y="5732544"/>
            <a:ext cx="3715071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3000" b="1" dirty="0">
                <a:solidFill>
                  <a:srgbClr val="000000"/>
                </a:solidFill>
                <a:latin typeface="Pretendard Light" pitchFamily="34" charset="0"/>
              </a:rPr>
              <a:t>주제별 장단점</a:t>
            </a:r>
            <a:endParaRPr lang="en-US" dirty="0"/>
          </a:p>
        </p:txBody>
      </p:sp>
      <p:sp>
        <p:nvSpPr>
          <p:cNvPr id="34" name="Object 34"/>
          <p:cNvSpPr txBox="1"/>
          <p:nvPr/>
        </p:nvSpPr>
        <p:spPr>
          <a:xfrm>
            <a:off x="7389952" y="6306953"/>
            <a:ext cx="2941389" cy="3539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Pros and Cons</a:t>
            </a:r>
            <a:endParaRPr lang="en-US" dirty="0"/>
          </a:p>
        </p:txBody>
      </p:sp>
      <p:grpSp>
        <p:nvGrpSpPr>
          <p:cNvPr id="1009" name="그룹 1009"/>
          <p:cNvGrpSpPr/>
          <p:nvPr/>
        </p:nvGrpSpPr>
        <p:grpSpPr>
          <a:xfrm>
            <a:off x="12078081" y="3671549"/>
            <a:ext cx="4925101" cy="4966546"/>
            <a:chOff x="12078081" y="3671549"/>
            <a:chExt cx="4925101" cy="4966546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78081" y="3671549"/>
              <a:ext cx="4925101" cy="4966546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1762937" y="3781716"/>
            <a:ext cx="1541619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40" name="Object 40"/>
          <p:cNvSpPr txBox="1"/>
          <p:nvPr/>
        </p:nvSpPr>
        <p:spPr>
          <a:xfrm>
            <a:off x="12787714" y="5732544"/>
            <a:ext cx="3475571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3000" b="1" dirty="0">
                <a:solidFill>
                  <a:srgbClr val="000000"/>
                </a:solidFill>
                <a:latin typeface="Pretendard Light" pitchFamily="34" charset="0"/>
              </a:rPr>
              <a:t>최종 선정</a:t>
            </a:r>
            <a:endParaRPr lang="en-US" dirty="0"/>
          </a:p>
        </p:txBody>
      </p:sp>
      <p:sp>
        <p:nvSpPr>
          <p:cNvPr id="41" name="Object 41"/>
          <p:cNvSpPr txBox="1"/>
          <p:nvPr/>
        </p:nvSpPr>
        <p:spPr>
          <a:xfrm>
            <a:off x="12787714" y="6306953"/>
            <a:ext cx="2941389" cy="3539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Conclusion</a:t>
            </a:r>
            <a:endParaRPr lang="en-US" dirty="0"/>
          </a:p>
        </p:txBody>
      </p:sp>
      <p:grpSp>
        <p:nvGrpSpPr>
          <p:cNvPr id="1010" name="그룹 1010"/>
          <p:cNvGrpSpPr/>
          <p:nvPr/>
        </p:nvGrpSpPr>
        <p:grpSpPr>
          <a:xfrm>
            <a:off x="7392401" y="5083185"/>
            <a:ext cx="523557" cy="523596"/>
            <a:chOff x="7392401" y="5083185"/>
            <a:chExt cx="523557" cy="523596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92401" y="5083185"/>
              <a:ext cx="523557" cy="523596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2812398" y="5094888"/>
            <a:ext cx="454909" cy="454891"/>
            <a:chOff x="12812398" y="5094888"/>
            <a:chExt cx="454909" cy="454891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12398" y="5094888"/>
              <a:ext cx="454909" cy="454891"/>
            </a:xfrm>
            <a:prstGeom prst="rect">
              <a:avLst/>
            </a:prstGeom>
          </p:spPr>
        </p:pic>
      </p:grpSp>
      <p:sp>
        <p:nvSpPr>
          <p:cNvPr id="2" name="Object 22">
            <a:extLst>
              <a:ext uri="{FF2B5EF4-FFF2-40B4-BE49-F238E27FC236}">
                <a16:creationId xmlns:a16="http://schemas.microsoft.com/office/drawing/2014/main" id="{44A84A66-012F-80DF-D4FE-B8131C8B83B1}"/>
              </a:ext>
            </a:extLst>
          </p:cNvPr>
          <p:cNvSpPr txBox="1"/>
          <p:nvPr/>
        </p:nvSpPr>
        <p:spPr>
          <a:xfrm>
            <a:off x="7389952" y="7015801"/>
            <a:ext cx="372281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 각 개발 주제에 대해 설명하고 각 주제의 개발 난이도</a:t>
            </a:r>
            <a:r>
              <a:rPr lang="en-US" altLang="ko-KR" dirty="0"/>
              <a:t>, </a:t>
            </a:r>
            <a:r>
              <a:rPr lang="ko-KR" altLang="en-US" dirty="0"/>
              <a:t> 장단점</a:t>
            </a:r>
            <a:r>
              <a:rPr lang="en-US" altLang="ko-KR" dirty="0"/>
              <a:t> </a:t>
            </a:r>
            <a:r>
              <a:rPr lang="ko-KR" altLang="en-US" dirty="0"/>
              <a:t>등을 나열해 서로 비교한다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Object 22">
            <a:extLst>
              <a:ext uri="{FF2B5EF4-FFF2-40B4-BE49-F238E27FC236}">
                <a16:creationId xmlns:a16="http://schemas.microsoft.com/office/drawing/2014/main" id="{183C7D80-E1C1-B35C-42BE-9766ED054233}"/>
              </a:ext>
            </a:extLst>
          </p:cNvPr>
          <p:cNvSpPr txBox="1"/>
          <p:nvPr/>
        </p:nvSpPr>
        <p:spPr>
          <a:xfrm>
            <a:off x="12787714" y="7033503"/>
            <a:ext cx="372281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 앞서 정리한 개발 난이도</a:t>
            </a:r>
            <a:r>
              <a:rPr lang="en-US" altLang="ko-KR" dirty="0"/>
              <a:t>,</a:t>
            </a:r>
            <a:r>
              <a:rPr lang="ko-KR" altLang="en-US" dirty="0"/>
              <a:t> 장단점 등을 토대로 어떤 주제를 선택 하였는 지와 그 이유를 설명한다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10" name="Object 97">
            <a:extLst>
              <a:ext uri="{FF2B5EF4-FFF2-40B4-BE49-F238E27FC236}">
                <a16:creationId xmlns:a16="http://schemas.microsoft.com/office/drawing/2014/main" id="{5BDEA747-D6C0-7A23-2F2C-3A56F7FB9E96}"/>
              </a:ext>
            </a:extLst>
          </p:cNvPr>
          <p:cNvSpPr txBox="1"/>
          <p:nvPr/>
        </p:nvSpPr>
        <p:spPr>
          <a:xfrm>
            <a:off x="14906414" y="832520"/>
            <a:ext cx="185224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000000"/>
                </a:solidFill>
                <a:latin typeface="Pretendard Medium" pitchFamily="34" charset="0"/>
              </a:rPr>
              <a:t>  Network Programming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4789794" y="791403"/>
            <a:ext cx="1852248" cy="369332"/>
            <a:chOff x="14789794" y="791403"/>
            <a:chExt cx="1852248" cy="369332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6" name="Object 6"/>
            <p:cNvSpPr txBox="1"/>
            <p:nvPr/>
          </p:nvSpPr>
          <p:spPr>
            <a:xfrm>
              <a:off x="14789794" y="791403"/>
              <a:ext cx="18522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003" name="그룹 1003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323016" y="3009524"/>
            <a:ext cx="1638889" cy="1628571"/>
            <a:chOff x="8323016" y="3009524"/>
            <a:chExt cx="1638889" cy="16285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3016" y="3009524"/>
              <a:ext cx="1638889" cy="16285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66667" y="6772759"/>
            <a:ext cx="15600000" cy="1852645"/>
            <a:chOff x="1466667" y="6772759"/>
            <a:chExt cx="15600000" cy="1852645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6667" y="6772759"/>
              <a:ext cx="15600000" cy="185264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379036" y="3271359"/>
            <a:ext cx="1527643" cy="12651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21" name="Object 21"/>
          <p:cNvSpPr txBox="1"/>
          <p:nvPr/>
        </p:nvSpPr>
        <p:spPr>
          <a:xfrm>
            <a:off x="6899369" y="4988786"/>
            <a:ext cx="448697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42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주제 소개</a:t>
            </a:r>
            <a:endParaRPr lang="en-US" dirty="0"/>
          </a:p>
        </p:txBody>
      </p:sp>
      <p:sp>
        <p:nvSpPr>
          <p:cNvPr id="22" name="Object 22"/>
          <p:cNvSpPr txBox="1"/>
          <p:nvPr/>
        </p:nvSpPr>
        <p:spPr>
          <a:xfrm>
            <a:off x="6500000" y="5708789"/>
            <a:ext cx="5285714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Subject Overview</a:t>
            </a:r>
            <a:endParaRPr lang="en-US" dirty="0"/>
          </a:p>
        </p:txBody>
      </p:sp>
      <p:grpSp>
        <p:nvGrpSpPr>
          <p:cNvPr id="1007" name="그룹 1007"/>
          <p:cNvGrpSpPr/>
          <p:nvPr/>
        </p:nvGrpSpPr>
        <p:grpSpPr>
          <a:xfrm>
            <a:off x="2520467" y="7432562"/>
            <a:ext cx="552395" cy="552374"/>
            <a:chOff x="2520467" y="7432562"/>
            <a:chExt cx="552395" cy="552374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20467" y="7432562"/>
              <a:ext cx="552395" cy="55237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779811" y="7558301"/>
            <a:ext cx="1286223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000" dirty="0"/>
              <a:t>이번 개발 목표에 대해 명시하고</a:t>
            </a:r>
            <a:r>
              <a:rPr lang="en-US" altLang="ko-KR" sz="2000" dirty="0"/>
              <a:t>, </a:t>
            </a:r>
            <a:r>
              <a:rPr lang="ko-KR" altLang="en-US" sz="2000" dirty="0"/>
              <a:t>부원별로 제안된 개발 주제에 대해 목표와 연관하여 내용을 요약해서 설명한다</a:t>
            </a:r>
            <a:r>
              <a:rPr lang="en-US" altLang="ko-KR" sz="2000" dirty="0"/>
              <a:t>.</a:t>
            </a:r>
            <a:endParaRPr lang="en-US" sz="2000" dirty="0"/>
          </a:p>
        </p:txBody>
      </p:sp>
      <p:sp>
        <p:nvSpPr>
          <p:cNvPr id="3" name="Object 97">
            <a:extLst>
              <a:ext uri="{FF2B5EF4-FFF2-40B4-BE49-F238E27FC236}">
                <a16:creationId xmlns:a16="http://schemas.microsoft.com/office/drawing/2014/main" id="{15F3ABE3-EF80-A1B8-5013-413BA28F6B40}"/>
              </a:ext>
            </a:extLst>
          </p:cNvPr>
          <p:cNvSpPr txBox="1"/>
          <p:nvPr/>
        </p:nvSpPr>
        <p:spPr>
          <a:xfrm>
            <a:off x="14906414" y="832520"/>
            <a:ext cx="185224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000000"/>
                </a:solidFill>
                <a:latin typeface="Pretendard Medium" pitchFamily="34" charset="0"/>
              </a:rPr>
              <a:t>  Network Programming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333333" y="3304762"/>
            <a:ext cx="4495238" cy="5272076"/>
            <a:chOff x="1333333" y="3304762"/>
            <a:chExt cx="4495238" cy="5272076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3333" y="3304762"/>
              <a:ext cx="4495238" cy="5272076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4789794" y="791404"/>
            <a:ext cx="1852248" cy="369332"/>
            <a:chOff x="14789794" y="791404"/>
            <a:chExt cx="1852248" cy="369332"/>
          </a:xfrm>
        </p:grpSpPr>
        <p:grpSp>
          <p:nvGrpSpPr>
            <p:cNvPr id="1010" name="그룹 1010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28" name="Object 27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30" name="Object 30"/>
            <p:cNvSpPr txBox="1"/>
            <p:nvPr/>
          </p:nvSpPr>
          <p:spPr>
            <a:xfrm>
              <a:off x="14789794" y="791404"/>
              <a:ext cx="18522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379358" y="1285003"/>
            <a:ext cx="1476200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33" name="Object 33"/>
          <p:cNvSpPr txBox="1"/>
          <p:nvPr/>
        </p:nvSpPr>
        <p:spPr>
          <a:xfrm>
            <a:off x="3380952" y="1383916"/>
            <a:ext cx="8480041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주제</a:t>
            </a:r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 소개</a:t>
            </a:r>
            <a:endParaRPr lang="en-US" dirty="0"/>
          </a:p>
        </p:txBody>
      </p:sp>
      <p:sp>
        <p:nvSpPr>
          <p:cNvPr id="34" name="Object 34"/>
          <p:cNvSpPr txBox="1"/>
          <p:nvPr/>
        </p:nvSpPr>
        <p:spPr>
          <a:xfrm>
            <a:off x="5867400" y="1583970"/>
            <a:ext cx="528571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Subject Overview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831285" y="5091380"/>
            <a:ext cx="3402328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3300" b="1" dirty="0">
                <a:solidFill>
                  <a:srgbClr val="000000"/>
                </a:solidFill>
                <a:latin typeface="Pretendard Light" pitchFamily="34" charset="0"/>
              </a:rPr>
              <a:t>목표 수립</a:t>
            </a:r>
            <a:endParaRPr lang="en-US" dirty="0"/>
          </a:p>
        </p:txBody>
      </p:sp>
      <p:sp>
        <p:nvSpPr>
          <p:cNvPr id="36" name="Object 36"/>
          <p:cNvSpPr txBox="1"/>
          <p:nvPr/>
        </p:nvSpPr>
        <p:spPr>
          <a:xfrm>
            <a:off x="1644853" y="6221595"/>
            <a:ext cx="3765885" cy="16619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700" dirty="0">
                <a:solidFill>
                  <a:srgbClr val="000000"/>
                </a:solidFill>
                <a:latin typeface="Pretendard Light" pitchFamily="34" charset="0"/>
              </a:rPr>
              <a:t>JAVA</a:t>
            </a:r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</a:rPr>
              <a:t> 언어를 이용한 상속</a:t>
            </a:r>
            <a:r>
              <a:rPr lang="en-US" altLang="ko-KR" sz="1700" dirty="0">
                <a:solidFill>
                  <a:srgbClr val="000000"/>
                </a:solidFill>
                <a:latin typeface="Pretendard Light" pitchFamily="34" charset="0"/>
              </a:rPr>
              <a:t>, </a:t>
            </a:r>
          </a:p>
          <a:p>
            <a:pPr algn="ctr"/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</a:rPr>
              <a:t>멀티 스레드</a:t>
            </a:r>
            <a:r>
              <a:rPr lang="en-US" altLang="ko-KR" sz="1700" dirty="0">
                <a:solidFill>
                  <a:srgbClr val="000000"/>
                </a:solidFill>
                <a:latin typeface="Pretendard Light" pitchFamily="34" charset="0"/>
              </a:rPr>
              <a:t>, </a:t>
            </a:r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</a:rPr>
              <a:t>스트림 등을 활용해</a:t>
            </a:r>
            <a:endParaRPr lang="en-US" altLang="ko-KR" sz="1700" dirty="0">
              <a:solidFill>
                <a:srgbClr val="000000"/>
              </a:solidFill>
              <a:latin typeface="Pretendard Light" pitchFamily="34" charset="0"/>
            </a:endParaRPr>
          </a:p>
          <a:p>
            <a:pPr algn="ctr"/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</a:rPr>
              <a:t>공유 자원에 접근하거나</a:t>
            </a:r>
            <a:endParaRPr lang="en-US" altLang="ko-KR" sz="1700" dirty="0">
              <a:solidFill>
                <a:srgbClr val="000000"/>
              </a:solidFill>
              <a:latin typeface="Pretendard Light" pitchFamily="34" charset="0"/>
            </a:endParaRPr>
          </a:p>
          <a:p>
            <a:pPr algn="ctr"/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</a:rPr>
              <a:t>통신 데이터를 주고받고</a:t>
            </a:r>
            <a:endParaRPr lang="en-US" altLang="ko-KR" sz="1700" dirty="0">
              <a:solidFill>
                <a:srgbClr val="000000"/>
              </a:solidFill>
              <a:latin typeface="Pretendard Light" pitchFamily="34" charset="0"/>
            </a:endParaRPr>
          </a:p>
          <a:p>
            <a:pPr algn="ctr"/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</a:rPr>
              <a:t>서로 상호작용하는 네트워크 어플리케이션 개발</a:t>
            </a:r>
            <a:endParaRPr lang="en-US" dirty="0"/>
          </a:p>
        </p:txBody>
      </p:sp>
      <p:grpSp>
        <p:nvGrpSpPr>
          <p:cNvPr id="1011" name="그룹 1011"/>
          <p:cNvGrpSpPr/>
          <p:nvPr/>
        </p:nvGrpSpPr>
        <p:grpSpPr>
          <a:xfrm>
            <a:off x="1783969" y="5911947"/>
            <a:ext cx="3496959" cy="14286"/>
            <a:chOff x="1783969" y="5911947"/>
            <a:chExt cx="3496959" cy="14286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83969" y="5911947"/>
              <a:ext cx="3496959" cy="1428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3264010" y="3652238"/>
            <a:ext cx="527572" cy="527610"/>
            <a:chOff x="3264010" y="3652238"/>
            <a:chExt cx="527572" cy="527610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64010" y="3652238"/>
              <a:ext cx="527572" cy="527610"/>
            </a:xfrm>
            <a:prstGeom prst="rect">
              <a:avLst/>
            </a:prstGeom>
          </p:spPr>
        </p:pic>
      </p:grpSp>
      <p:grpSp>
        <p:nvGrpSpPr>
          <p:cNvPr id="55" name="그룹 1003"/>
          <p:cNvGrpSpPr/>
          <p:nvPr/>
        </p:nvGrpSpPr>
        <p:grpSpPr>
          <a:xfrm>
            <a:off x="7126778" y="3301445"/>
            <a:ext cx="10323022" cy="1496175"/>
            <a:chOff x="7580952" y="3301445"/>
            <a:chExt cx="9407143" cy="1496175"/>
          </a:xfrm>
        </p:grpSpPr>
        <p:pic>
          <p:nvPicPr>
            <p:cNvPr id="56" name="Object 8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80952" y="3301445"/>
              <a:ext cx="9407143" cy="1496175"/>
            </a:xfrm>
            <a:prstGeom prst="rect">
              <a:avLst/>
            </a:prstGeom>
          </p:spPr>
        </p:pic>
      </p:grpSp>
      <p:grpSp>
        <p:nvGrpSpPr>
          <p:cNvPr id="57" name="그룹 1004"/>
          <p:cNvGrpSpPr/>
          <p:nvPr/>
        </p:nvGrpSpPr>
        <p:grpSpPr>
          <a:xfrm>
            <a:off x="7126778" y="5142857"/>
            <a:ext cx="10323022" cy="1496175"/>
            <a:chOff x="7580952" y="5142857"/>
            <a:chExt cx="9407143" cy="1496175"/>
          </a:xfrm>
        </p:grpSpPr>
        <p:pic>
          <p:nvPicPr>
            <p:cNvPr id="58" name="Object 1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80952" y="5142857"/>
              <a:ext cx="9407143" cy="1496175"/>
            </a:xfrm>
            <a:prstGeom prst="rect">
              <a:avLst/>
            </a:prstGeom>
          </p:spPr>
        </p:pic>
      </p:grpSp>
      <p:grpSp>
        <p:nvGrpSpPr>
          <p:cNvPr id="59" name="그룹 1005"/>
          <p:cNvGrpSpPr/>
          <p:nvPr/>
        </p:nvGrpSpPr>
        <p:grpSpPr>
          <a:xfrm>
            <a:off x="7126778" y="6984270"/>
            <a:ext cx="10323022" cy="1496175"/>
            <a:chOff x="7580952" y="6984270"/>
            <a:chExt cx="9407143" cy="1496175"/>
          </a:xfrm>
        </p:grpSpPr>
        <p:pic>
          <p:nvPicPr>
            <p:cNvPr id="60" name="Object 1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80952" y="6984270"/>
              <a:ext cx="9407143" cy="1496175"/>
            </a:xfrm>
            <a:prstGeom prst="rect">
              <a:avLst/>
            </a:prstGeom>
          </p:spPr>
        </p:pic>
      </p:grpSp>
      <p:sp>
        <p:nvSpPr>
          <p:cNvPr id="61" name="Object 32"/>
          <p:cNvSpPr txBox="1"/>
          <p:nvPr/>
        </p:nvSpPr>
        <p:spPr>
          <a:xfrm>
            <a:off x="7010400" y="3421983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62" name="Object 33"/>
          <p:cNvSpPr txBox="1"/>
          <p:nvPr/>
        </p:nvSpPr>
        <p:spPr>
          <a:xfrm>
            <a:off x="8229600" y="4009420"/>
            <a:ext cx="2359751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여행 스케줄러</a:t>
            </a:r>
            <a:endParaRPr lang="en-US" dirty="0"/>
          </a:p>
        </p:txBody>
      </p:sp>
      <p:sp>
        <p:nvSpPr>
          <p:cNvPr id="63" name="Object 34"/>
          <p:cNvSpPr txBox="1"/>
          <p:nvPr/>
        </p:nvSpPr>
        <p:spPr>
          <a:xfrm>
            <a:off x="10285897" y="3793976"/>
            <a:ext cx="7087704" cy="8771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어디로 </a:t>
            </a:r>
            <a:r>
              <a:rPr lang="ko-KR" altLang="en-US" sz="1700" dirty="0" err="1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여행갈지</a:t>
            </a:r>
            <a:r>
              <a:rPr lang="en-US" altLang="ko-KR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, </a:t>
            </a:r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예산은 얼마인지</a:t>
            </a:r>
            <a:r>
              <a:rPr lang="en-US" altLang="ko-KR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, </a:t>
            </a:r>
            <a:r>
              <a:rPr lang="ko-KR" altLang="en-US" sz="1700" dirty="0" err="1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몇박몇일인지</a:t>
            </a:r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 입력하면 그에 맞게 스케줄을 짜서 나오는 프로그램이다</a:t>
            </a:r>
            <a:r>
              <a:rPr lang="en-US" altLang="ko-KR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. </a:t>
            </a:r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또한 같은 여행지에 </a:t>
            </a:r>
            <a:r>
              <a:rPr lang="ko-KR" altLang="en-US" sz="1700" dirty="0" err="1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갔다온</a:t>
            </a:r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 사람과 </a:t>
            </a:r>
            <a:r>
              <a:rPr lang="en-US" altLang="ko-KR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1</a:t>
            </a:r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대</a:t>
            </a:r>
            <a:r>
              <a:rPr lang="en-US" altLang="ko-KR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1 </a:t>
            </a:r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네트워킹을 통해 직접적인 후기를 들을 수 있다</a:t>
            </a:r>
            <a:r>
              <a:rPr lang="en-US" altLang="ko-KR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.</a:t>
            </a:r>
            <a:endParaRPr lang="en-US" dirty="0"/>
          </a:p>
        </p:txBody>
      </p:sp>
      <p:sp>
        <p:nvSpPr>
          <p:cNvPr id="992" name="Object 35"/>
          <p:cNvSpPr txBox="1"/>
          <p:nvPr/>
        </p:nvSpPr>
        <p:spPr>
          <a:xfrm>
            <a:off x="7010400" y="5230693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993" name="Object 36"/>
          <p:cNvSpPr txBox="1"/>
          <p:nvPr/>
        </p:nvSpPr>
        <p:spPr>
          <a:xfrm>
            <a:off x="8229600" y="5817668"/>
            <a:ext cx="2359751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끝말잇기 게임</a:t>
            </a:r>
            <a:endParaRPr lang="en-US" dirty="0"/>
          </a:p>
        </p:txBody>
      </p:sp>
      <p:sp>
        <p:nvSpPr>
          <p:cNvPr id="994" name="Object 37"/>
          <p:cNvSpPr txBox="1"/>
          <p:nvPr/>
        </p:nvSpPr>
        <p:spPr>
          <a:xfrm>
            <a:off x="10285897" y="5733029"/>
            <a:ext cx="7087704" cy="6155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키워드와 관련된 내용을 입력해주세요. 좌측 프레임에는 주제와 관련된 이미지를 넣을 수 있습니다.</a:t>
            </a:r>
            <a:endParaRPr lang="en-US" dirty="0"/>
          </a:p>
        </p:txBody>
      </p:sp>
      <p:sp>
        <p:nvSpPr>
          <p:cNvPr id="995" name="Object 38"/>
          <p:cNvSpPr txBox="1"/>
          <p:nvPr/>
        </p:nvSpPr>
        <p:spPr>
          <a:xfrm>
            <a:off x="7010400" y="7077497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996" name="Object 39"/>
          <p:cNvSpPr txBox="1"/>
          <p:nvPr/>
        </p:nvSpPr>
        <p:spPr>
          <a:xfrm>
            <a:off x="8229604" y="7655407"/>
            <a:ext cx="2359751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공유 게시판</a:t>
            </a:r>
            <a:endParaRPr lang="en-US" dirty="0"/>
          </a:p>
        </p:txBody>
      </p:sp>
      <p:sp>
        <p:nvSpPr>
          <p:cNvPr id="997" name="Object 40"/>
          <p:cNvSpPr txBox="1"/>
          <p:nvPr/>
        </p:nvSpPr>
        <p:spPr>
          <a:xfrm>
            <a:off x="10285897" y="7570768"/>
            <a:ext cx="7087704" cy="6155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키워드와 관련된 내용을 입력해주세요. 좌측 프레임에는 주제와 관련된 이미지를 넣을 수 있습니다.</a:t>
            </a:r>
            <a:endParaRPr lang="en-US" dirty="0"/>
          </a:p>
        </p:txBody>
      </p:sp>
      <p:sp>
        <p:nvSpPr>
          <p:cNvPr id="998" name="Object 97">
            <a:extLst>
              <a:ext uri="{FF2B5EF4-FFF2-40B4-BE49-F238E27FC236}">
                <a16:creationId xmlns:a16="http://schemas.microsoft.com/office/drawing/2014/main" id="{EB9D0EF1-57C5-0CAA-452B-E945A0BC02FC}"/>
              </a:ext>
            </a:extLst>
          </p:cNvPr>
          <p:cNvSpPr txBox="1"/>
          <p:nvPr/>
        </p:nvSpPr>
        <p:spPr>
          <a:xfrm>
            <a:off x="14906414" y="832520"/>
            <a:ext cx="185224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000000"/>
                </a:solidFill>
                <a:latin typeface="Pretendard Medium" pitchFamily="34" charset="0"/>
              </a:rPr>
              <a:t>  Network Programming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4789794" y="791403"/>
            <a:ext cx="1852248" cy="369332"/>
            <a:chOff x="14789794" y="791403"/>
            <a:chExt cx="1852248" cy="369332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6" name="Object 6"/>
            <p:cNvSpPr txBox="1"/>
            <p:nvPr/>
          </p:nvSpPr>
          <p:spPr>
            <a:xfrm>
              <a:off x="14789794" y="791403"/>
              <a:ext cx="18522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003" name="그룹 1003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323016" y="3009524"/>
            <a:ext cx="1638889" cy="1628571"/>
            <a:chOff x="8323016" y="3009524"/>
            <a:chExt cx="1638889" cy="16285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3016" y="3009524"/>
              <a:ext cx="1638889" cy="16285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66667" y="6772759"/>
            <a:ext cx="15600000" cy="1852645"/>
            <a:chOff x="1466667" y="6772759"/>
            <a:chExt cx="15600000" cy="1852645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6667" y="6772759"/>
              <a:ext cx="15600000" cy="185264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379036" y="3496128"/>
            <a:ext cx="1527643" cy="81560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</a:t>
            </a:r>
            <a:r>
              <a:rPr lang="en-US" altLang="ko-KR" sz="4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</a:t>
            </a:r>
            <a:endParaRPr lang="en-US" dirty="0"/>
          </a:p>
        </p:txBody>
      </p:sp>
      <p:sp>
        <p:nvSpPr>
          <p:cNvPr id="21" name="Object 21"/>
          <p:cNvSpPr txBox="1"/>
          <p:nvPr/>
        </p:nvSpPr>
        <p:spPr>
          <a:xfrm>
            <a:off x="6899369" y="4988786"/>
            <a:ext cx="448697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42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주제별 장단점</a:t>
            </a:r>
            <a:endParaRPr lang="en-US" dirty="0"/>
          </a:p>
        </p:txBody>
      </p:sp>
      <p:sp>
        <p:nvSpPr>
          <p:cNvPr id="22" name="Object 22"/>
          <p:cNvSpPr txBox="1"/>
          <p:nvPr/>
        </p:nvSpPr>
        <p:spPr>
          <a:xfrm>
            <a:off x="6500000" y="5716483"/>
            <a:ext cx="528571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/>
              <a:t>Pros and Cons</a:t>
            </a:r>
            <a:endParaRPr lang="en-US" dirty="0"/>
          </a:p>
        </p:txBody>
      </p:sp>
      <p:grpSp>
        <p:nvGrpSpPr>
          <p:cNvPr id="1007" name="그룹 1007"/>
          <p:cNvGrpSpPr/>
          <p:nvPr/>
        </p:nvGrpSpPr>
        <p:grpSpPr>
          <a:xfrm>
            <a:off x="2520467" y="7432562"/>
            <a:ext cx="552395" cy="552374"/>
            <a:chOff x="2520467" y="7432562"/>
            <a:chExt cx="552395" cy="552374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20467" y="7432562"/>
              <a:ext cx="552395" cy="55237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779811" y="7558301"/>
            <a:ext cx="1286223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000" dirty="0"/>
              <a:t>각</a:t>
            </a:r>
            <a:r>
              <a:rPr lang="en-US" altLang="ko-KR" sz="2000" dirty="0"/>
              <a:t> </a:t>
            </a:r>
            <a:r>
              <a:rPr lang="ko-KR" altLang="en-US" sz="2000" dirty="0"/>
              <a:t>개발 주제별 장점과 단점을 예시와 함께 나열하여 다른 주제들과 비교하여 설명한다</a:t>
            </a:r>
            <a:r>
              <a:rPr lang="en-US" altLang="ko-KR" sz="2000" dirty="0"/>
              <a:t>.</a:t>
            </a:r>
            <a:endParaRPr lang="en-US" sz="2000" dirty="0"/>
          </a:p>
        </p:txBody>
      </p:sp>
      <p:sp>
        <p:nvSpPr>
          <p:cNvPr id="3" name="Object 97">
            <a:extLst>
              <a:ext uri="{FF2B5EF4-FFF2-40B4-BE49-F238E27FC236}">
                <a16:creationId xmlns:a16="http://schemas.microsoft.com/office/drawing/2014/main" id="{15F3ABE3-EF80-A1B8-5013-413BA28F6B40}"/>
              </a:ext>
            </a:extLst>
          </p:cNvPr>
          <p:cNvSpPr txBox="1"/>
          <p:nvPr/>
        </p:nvSpPr>
        <p:spPr>
          <a:xfrm>
            <a:off x="14906414" y="832520"/>
            <a:ext cx="185224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000000"/>
                </a:solidFill>
                <a:latin typeface="Pretendard Medium" pitchFamily="34" charset="0"/>
              </a:rPr>
              <a:t>  Network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77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01">
            <a:extLst>
              <a:ext uri="{FF2B5EF4-FFF2-40B4-BE49-F238E27FC236}">
                <a16:creationId xmlns:a16="http://schemas.microsoft.com/office/drawing/2014/main" id="{9E82077D-7102-EA07-D83F-204136DF4133}"/>
              </a:ext>
            </a:extLst>
          </p:cNvPr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4" name="Object 2">
              <a:extLst>
                <a:ext uri="{FF2B5EF4-FFF2-40B4-BE49-F238E27FC236}">
                  <a16:creationId xmlns:a16="http://schemas.microsoft.com/office/drawing/2014/main" id="{674CF891-175B-5CE9-3DF8-B1DF256DE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5" name="그룹 1002">
            <a:extLst>
              <a:ext uri="{FF2B5EF4-FFF2-40B4-BE49-F238E27FC236}">
                <a16:creationId xmlns:a16="http://schemas.microsoft.com/office/drawing/2014/main" id="{0C3E56F0-593D-AF59-2110-7798F0442A80}"/>
              </a:ext>
            </a:extLst>
          </p:cNvPr>
          <p:cNvGrpSpPr/>
          <p:nvPr/>
        </p:nvGrpSpPr>
        <p:grpSpPr>
          <a:xfrm>
            <a:off x="1295238" y="3619048"/>
            <a:ext cx="3600000" cy="5035950"/>
            <a:chOff x="1295238" y="3619048"/>
            <a:chExt cx="3600000" cy="5035950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A1863BAA-BDC5-8E6C-9F75-2B32014E8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238" y="3619048"/>
              <a:ext cx="3600000" cy="5035950"/>
            </a:xfrm>
            <a:prstGeom prst="rect">
              <a:avLst/>
            </a:prstGeom>
          </p:spPr>
        </p:pic>
      </p:grpSp>
      <p:grpSp>
        <p:nvGrpSpPr>
          <p:cNvPr id="7" name="그룹 1003">
            <a:extLst>
              <a:ext uri="{FF2B5EF4-FFF2-40B4-BE49-F238E27FC236}">
                <a16:creationId xmlns:a16="http://schemas.microsoft.com/office/drawing/2014/main" id="{C2402BAF-6DE7-E89A-BDD3-62BE18ED0A6A}"/>
              </a:ext>
            </a:extLst>
          </p:cNvPr>
          <p:cNvGrpSpPr/>
          <p:nvPr/>
        </p:nvGrpSpPr>
        <p:grpSpPr>
          <a:xfrm>
            <a:off x="2485317" y="4732261"/>
            <a:ext cx="1209921" cy="1195238"/>
            <a:chOff x="2485317" y="4732261"/>
            <a:chExt cx="1209921" cy="1195238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B8196E33-8B5A-4229-D2A8-DF6E74142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5317" y="4732261"/>
              <a:ext cx="1209921" cy="1195238"/>
            </a:xfrm>
            <a:prstGeom prst="rect">
              <a:avLst/>
            </a:prstGeom>
          </p:spPr>
        </p:pic>
      </p:grpSp>
      <p:grpSp>
        <p:nvGrpSpPr>
          <p:cNvPr id="9" name="그룹 1004">
            <a:extLst>
              <a:ext uri="{FF2B5EF4-FFF2-40B4-BE49-F238E27FC236}">
                <a16:creationId xmlns:a16="http://schemas.microsoft.com/office/drawing/2014/main" id="{FAAE4C02-2EA8-2492-EEBA-CC8458C68033}"/>
              </a:ext>
            </a:extLst>
          </p:cNvPr>
          <p:cNvGrpSpPr/>
          <p:nvPr/>
        </p:nvGrpSpPr>
        <p:grpSpPr>
          <a:xfrm>
            <a:off x="5899162" y="3657143"/>
            <a:ext cx="5971315" cy="1104425"/>
            <a:chOff x="5899162" y="3657143"/>
            <a:chExt cx="5971315" cy="1104425"/>
          </a:xfrm>
        </p:grpSpPr>
        <p:pic>
          <p:nvPicPr>
            <p:cNvPr id="10" name="Object 11">
              <a:extLst>
                <a:ext uri="{FF2B5EF4-FFF2-40B4-BE49-F238E27FC236}">
                  <a16:creationId xmlns:a16="http://schemas.microsoft.com/office/drawing/2014/main" id="{78BC39D5-B0C8-2CC6-F425-19966E496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162" y="3657143"/>
              <a:ext cx="5971315" cy="1104425"/>
            </a:xfrm>
            <a:prstGeom prst="rect">
              <a:avLst/>
            </a:prstGeom>
          </p:spPr>
        </p:pic>
      </p:grpSp>
      <p:grpSp>
        <p:nvGrpSpPr>
          <p:cNvPr id="11" name="그룹 1005">
            <a:extLst>
              <a:ext uri="{FF2B5EF4-FFF2-40B4-BE49-F238E27FC236}">
                <a16:creationId xmlns:a16="http://schemas.microsoft.com/office/drawing/2014/main" id="{3BF1DBBC-EE43-7BF4-EE13-666047D8B597}"/>
              </a:ext>
            </a:extLst>
          </p:cNvPr>
          <p:cNvGrpSpPr/>
          <p:nvPr/>
        </p:nvGrpSpPr>
        <p:grpSpPr>
          <a:xfrm>
            <a:off x="4791225" y="4171043"/>
            <a:ext cx="1102955" cy="176040"/>
            <a:chOff x="4791225" y="4171043"/>
            <a:chExt cx="1102955" cy="176040"/>
          </a:xfrm>
        </p:grpSpPr>
        <p:pic>
          <p:nvPicPr>
            <p:cNvPr id="12" name="Object 14">
              <a:extLst>
                <a:ext uri="{FF2B5EF4-FFF2-40B4-BE49-F238E27FC236}">
                  <a16:creationId xmlns:a16="http://schemas.microsoft.com/office/drawing/2014/main" id="{5EDF210B-1E99-0488-7F0F-03E981F2A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0800000">
              <a:off x="4791225" y="4171043"/>
              <a:ext cx="1102955" cy="176040"/>
            </a:xfrm>
            <a:prstGeom prst="rect">
              <a:avLst/>
            </a:prstGeom>
          </p:spPr>
        </p:pic>
      </p:grpSp>
      <p:grpSp>
        <p:nvGrpSpPr>
          <p:cNvPr id="13" name="그룹 1006">
            <a:extLst>
              <a:ext uri="{FF2B5EF4-FFF2-40B4-BE49-F238E27FC236}">
                <a16:creationId xmlns:a16="http://schemas.microsoft.com/office/drawing/2014/main" id="{0C6FD621-BFF5-9B1A-33F0-1447A006FC6A}"/>
              </a:ext>
            </a:extLst>
          </p:cNvPr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14" name="Object 17">
              <a:extLst>
                <a:ext uri="{FF2B5EF4-FFF2-40B4-BE49-F238E27FC236}">
                  <a16:creationId xmlns:a16="http://schemas.microsoft.com/office/drawing/2014/main" id="{D02606AF-B72D-3A67-D46F-72E035544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5" name="그룹 1007">
            <a:extLst>
              <a:ext uri="{FF2B5EF4-FFF2-40B4-BE49-F238E27FC236}">
                <a16:creationId xmlns:a16="http://schemas.microsoft.com/office/drawing/2014/main" id="{0CD86CBC-0313-B46C-4A2A-CAD5A7163A35}"/>
              </a:ext>
            </a:extLst>
          </p:cNvPr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16" name="Object 20">
              <a:extLst>
                <a:ext uri="{FF2B5EF4-FFF2-40B4-BE49-F238E27FC236}">
                  <a16:creationId xmlns:a16="http://schemas.microsoft.com/office/drawing/2014/main" id="{22D0359D-EF05-9EE9-374C-FFDBB947A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7" name="그룹 1008">
            <a:extLst>
              <a:ext uri="{FF2B5EF4-FFF2-40B4-BE49-F238E27FC236}">
                <a16:creationId xmlns:a16="http://schemas.microsoft.com/office/drawing/2014/main" id="{49BEE898-F1D4-8331-0B2C-89D35B7E789A}"/>
              </a:ext>
            </a:extLst>
          </p:cNvPr>
          <p:cNvGrpSpPr/>
          <p:nvPr/>
        </p:nvGrpSpPr>
        <p:grpSpPr>
          <a:xfrm>
            <a:off x="14789794" y="791403"/>
            <a:ext cx="1852248" cy="369332"/>
            <a:chOff x="14789794" y="791403"/>
            <a:chExt cx="1852248" cy="369332"/>
          </a:xfrm>
        </p:grpSpPr>
        <p:grpSp>
          <p:nvGrpSpPr>
            <p:cNvPr id="19" name="그룹 1009">
              <a:extLst>
                <a:ext uri="{FF2B5EF4-FFF2-40B4-BE49-F238E27FC236}">
                  <a16:creationId xmlns:a16="http://schemas.microsoft.com/office/drawing/2014/main" id="{1C57CFF5-A99F-8244-2D47-947E160F803A}"/>
                </a:ext>
              </a:extLst>
            </p:cNvPr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22" name="Object 24">
                <a:extLst>
                  <a:ext uri="{FF2B5EF4-FFF2-40B4-BE49-F238E27FC236}">
                    <a16:creationId xmlns:a16="http://schemas.microsoft.com/office/drawing/2014/main" id="{A458F552-75A9-BBF2-B259-70F23BBC1A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20" name="Object 27">
              <a:extLst>
                <a:ext uri="{FF2B5EF4-FFF2-40B4-BE49-F238E27FC236}">
                  <a16:creationId xmlns:a16="http://schemas.microsoft.com/office/drawing/2014/main" id="{7F594115-62ED-5B0F-91EC-FCBE30B78A44}"/>
                </a:ext>
              </a:extLst>
            </p:cNvPr>
            <p:cNvSpPr txBox="1"/>
            <p:nvPr/>
          </p:nvSpPr>
          <p:spPr>
            <a:xfrm>
              <a:off x="14789794" y="791403"/>
              <a:ext cx="18522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3" name="Object 29">
            <a:extLst>
              <a:ext uri="{FF2B5EF4-FFF2-40B4-BE49-F238E27FC236}">
                <a16:creationId xmlns:a16="http://schemas.microsoft.com/office/drawing/2014/main" id="{3BDC393A-816A-EFAD-278F-56C55D157EF3}"/>
              </a:ext>
            </a:extLst>
          </p:cNvPr>
          <p:cNvSpPr txBox="1"/>
          <p:nvPr/>
        </p:nvSpPr>
        <p:spPr>
          <a:xfrm>
            <a:off x="1236500" y="1447162"/>
            <a:ext cx="176191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</a:t>
            </a:r>
            <a:r>
              <a:rPr lang="en-US" altLang="ko-KR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</a:t>
            </a:r>
            <a:endParaRPr lang="en-US" dirty="0"/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E093DCFF-2745-737B-F57F-1DF0552593CD}"/>
              </a:ext>
            </a:extLst>
          </p:cNvPr>
          <p:cNvSpPr txBox="1"/>
          <p:nvPr/>
        </p:nvSpPr>
        <p:spPr>
          <a:xfrm>
            <a:off x="3380952" y="1383916"/>
            <a:ext cx="8480041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주제별 장단점</a:t>
            </a:r>
            <a:endParaRPr lang="en-US" dirty="0"/>
          </a:p>
        </p:txBody>
      </p:sp>
      <p:sp>
        <p:nvSpPr>
          <p:cNvPr id="26" name="Object 31">
            <a:extLst>
              <a:ext uri="{FF2B5EF4-FFF2-40B4-BE49-F238E27FC236}">
                <a16:creationId xmlns:a16="http://schemas.microsoft.com/office/drawing/2014/main" id="{65831B68-B62D-B5D4-9FFA-B86DC565C8AA}"/>
              </a:ext>
            </a:extLst>
          </p:cNvPr>
          <p:cNvSpPr txBox="1"/>
          <p:nvPr/>
        </p:nvSpPr>
        <p:spPr>
          <a:xfrm>
            <a:off x="6978200" y="1583971"/>
            <a:ext cx="4070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dirty="0"/>
              <a:t>Pros and Cons</a:t>
            </a:r>
            <a:endParaRPr lang="en-US" dirty="0"/>
          </a:p>
        </p:txBody>
      </p:sp>
      <p:sp>
        <p:nvSpPr>
          <p:cNvPr id="27" name="Object 32">
            <a:extLst>
              <a:ext uri="{FF2B5EF4-FFF2-40B4-BE49-F238E27FC236}">
                <a16:creationId xmlns:a16="http://schemas.microsoft.com/office/drawing/2014/main" id="{035D9C93-5602-1F85-CD1D-0BEE06BE2782}"/>
              </a:ext>
            </a:extLst>
          </p:cNvPr>
          <p:cNvSpPr txBox="1"/>
          <p:nvPr/>
        </p:nvSpPr>
        <p:spPr>
          <a:xfrm>
            <a:off x="1333443" y="6140522"/>
            <a:ext cx="360307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i="1" dirty="0"/>
              <a:t>P</a:t>
            </a:r>
            <a:r>
              <a:rPr lang="ko-KR" altLang="en-US" sz="2400" b="1" i="1" dirty="0"/>
              <a:t>들을 위한 </a:t>
            </a:r>
            <a:endParaRPr lang="en-US" altLang="ko-KR" sz="2400" b="1" i="1" dirty="0"/>
          </a:p>
          <a:p>
            <a:pPr algn="ctr"/>
            <a:r>
              <a:rPr lang="ko-KR" altLang="en-US" sz="2400" b="1" i="1" dirty="0"/>
              <a:t>여행 스케줄러</a:t>
            </a:r>
            <a:endParaRPr lang="en-US" altLang="ko-KR" sz="2400" b="1" i="1" dirty="0"/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01141C9D-8FB0-9EF9-CA83-D75637F142B4}"/>
              </a:ext>
            </a:extLst>
          </p:cNvPr>
          <p:cNvSpPr txBox="1"/>
          <p:nvPr/>
        </p:nvSpPr>
        <p:spPr>
          <a:xfrm>
            <a:off x="6912320" y="4049946"/>
            <a:ext cx="2359751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개인화된 정보</a:t>
            </a:r>
            <a:endParaRPr lang="en-US" dirty="0"/>
          </a:p>
        </p:txBody>
      </p:sp>
      <p:grpSp>
        <p:nvGrpSpPr>
          <p:cNvPr id="40" name="그룹 1010">
            <a:extLst>
              <a:ext uri="{FF2B5EF4-FFF2-40B4-BE49-F238E27FC236}">
                <a16:creationId xmlns:a16="http://schemas.microsoft.com/office/drawing/2014/main" id="{B8513995-0446-A8F8-03CE-8BEACE7B046B}"/>
              </a:ext>
            </a:extLst>
          </p:cNvPr>
          <p:cNvGrpSpPr/>
          <p:nvPr/>
        </p:nvGrpSpPr>
        <p:grpSpPr>
          <a:xfrm>
            <a:off x="5899162" y="4929414"/>
            <a:ext cx="5971315" cy="1104425"/>
            <a:chOff x="5899162" y="4929414"/>
            <a:chExt cx="5971315" cy="1104425"/>
          </a:xfrm>
        </p:grpSpPr>
        <p:pic>
          <p:nvPicPr>
            <p:cNvPr id="41" name="Object 38">
              <a:extLst>
                <a:ext uri="{FF2B5EF4-FFF2-40B4-BE49-F238E27FC236}">
                  <a16:creationId xmlns:a16="http://schemas.microsoft.com/office/drawing/2014/main" id="{BC13E4DF-F72A-F582-EA24-EA575B21D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162" y="4929414"/>
              <a:ext cx="5971315" cy="1104425"/>
            </a:xfrm>
            <a:prstGeom prst="rect">
              <a:avLst/>
            </a:prstGeom>
          </p:spPr>
        </p:pic>
      </p:grpSp>
      <p:grpSp>
        <p:nvGrpSpPr>
          <p:cNvPr id="42" name="그룹 1011">
            <a:extLst>
              <a:ext uri="{FF2B5EF4-FFF2-40B4-BE49-F238E27FC236}">
                <a16:creationId xmlns:a16="http://schemas.microsoft.com/office/drawing/2014/main" id="{23A591BA-C073-F45A-9006-1B81007ECED3}"/>
              </a:ext>
            </a:extLst>
          </p:cNvPr>
          <p:cNvGrpSpPr/>
          <p:nvPr/>
        </p:nvGrpSpPr>
        <p:grpSpPr>
          <a:xfrm>
            <a:off x="4791225" y="5413164"/>
            <a:ext cx="1102955" cy="176040"/>
            <a:chOff x="4791225" y="5413164"/>
            <a:chExt cx="1102955" cy="176040"/>
          </a:xfrm>
        </p:grpSpPr>
        <p:pic>
          <p:nvPicPr>
            <p:cNvPr id="43" name="Object 41">
              <a:extLst>
                <a:ext uri="{FF2B5EF4-FFF2-40B4-BE49-F238E27FC236}">
                  <a16:creationId xmlns:a16="http://schemas.microsoft.com/office/drawing/2014/main" id="{6B857B29-AF0B-6CBF-D958-3D19574B0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0800000">
              <a:off x="4791225" y="5413164"/>
              <a:ext cx="1102955" cy="176040"/>
            </a:xfrm>
            <a:prstGeom prst="rect">
              <a:avLst/>
            </a:prstGeom>
          </p:spPr>
        </p:pic>
      </p:grpSp>
      <p:sp>
        <p:nvSpPr>
          <p:cNvPr id="45" name="Object 45">
            <a:extLst>
              <a:ext uri="{FF2B5EF4-FFF2-40B4-BE49-F238E27FC236}">
                <a16:creationId xmlns:a16="http://schemas.microsoft.com/office/drawing/2014/main" id="{AF95B06C-EBDC-E5EE-D32E-D9074D0D85F1}"/>
              </a:ext>
            </a:extLst>
          </p:cNvPr>
          <p:cNvSpPr txBox="1"/>
          <p:nvPr/>
        </p:nvSpPr>
        <p:spPr>
          <a:xfrm>
            <a:off x="6962840" y="5299661"/>
            <a:ext cx="340775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400" b="1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용이한 접근성과 편리성</a:t>
            </a:r>
            <a:endParaRPr lang="en-US" sz="2400" dirty="0"/>
          </a:p>
        </p:txBody>
      </p:sp>
      <p:grpSp>
        <p:nvGrpSpPr>
          <p:cNvPr id="47" name="그룹 1012">
            <a:extLst>
              <a:ext uri="{FF2B5EF4-FFF2-40B4-BE49-F238E27FC236}">
                <a16:creationId xmlns:a16="http://schemas.microsoft.com/office/drawing/2014/main" id="{2EE1A276-8A43-5983-27FF-65EB8C844233}"/>
              </a:ext>
            </a:extLst>
          </p:cNvPr>
          <p:cNvGrpSpPr/>
          <p:nvPr/>
        </p:nvGrpSpPr>
        <p:grpSpPr>
          <a:xfrm>
            <a:off x="5899162" y="6201684"/>
            <a:ext cx="5971315" cy="1104425"/>
            <a:chOff x="5899162" y="6201684"/>
            <a:chExt cx="5971315" cy="1104425"/>
          </a:xfrm>
        </p:grpSpPr>
        <p:pic>
          <p:nvPicPr>
            <p:cNvPr id="48" name="Object 47">
              <a:extLst>
                <a:ext uri="{FF2B5EF4-FFF2-40B4-BE49-F238E27FC236}">
                  <a16:creationId xmlns:a16="http://schemas.microsoft.com/office/drawing/2014/main" id="{8226A795-3AD5-AE87-9732-62F27C43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162" y="6201684"/>
              <a:ext cx="5971315" cy="1104425"/>
            </a:xfrm>
            <a:prstGeom prst="rect">
              <a:avLst/>
            </a:prstGeom>
          </p:spPr>
        </p:pic>
      </p:grpSp>
      <p:grpSp>
        <p:nvGrpSpPr>
          <p:cNvPr id="49" name="그룹 1013">
            <a:extLst>
              <a:ext uri="{FF2B5EF4-FFF2-40B4-BE49-F238E27FC236}">
                <a16:creationId xmlns:a16="http://schemas.microsoft.com/office/drawing/2014/main" id="{9C29F120-90C6-3052-56C6-542EC111B64C}"/>
              </a:ext>
            </a:extLst>
          </p:cNvPr>
          <p:cNvGrpSpPr/>
          <p:nvPr/>
        </p:nvGrpSpPr>
        <p:grpSpPr>
          <a:xfrm>
            <a:off x="4791225" y="6650922"/>
            <a:ext cx="1102955" cy="176040"/>
            <a:chOff x="4791225" y="6650922"/>
            <a:chExt cx="1102955" cy="176040"/>
          </a:xfrm>
        </p:grpSpPr>
        <p:pic>
          <p:nvPicPr>
            <p:cNvPr id="50" name="Object 50">
              <a:extLst>
                <a:ext uri="{FF2B5EF4-FFF2-40B4-BE49-F238E27FC236}">
                  <a16:creationId xmlns:a16="http://schemas.microsoft.com/office/drawing/2014/main" id="{FF209BB7-E685-25DC-79A2-302AB08DC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0800000">
              <a:off x="4791225" y="6650922"/>
              <a:ext cx="1102955" cy="176040"/>
            </a:xfrm>
            <a:prstGeom prst="rect">
              <a:avLst/>
            </a:prstGeom>
          </p:spPr>
        </p:pic>
      </p:grpSp>
      <p:sp>
        <p:nvSpPr>
          <p:cNvPr id="52" name="Object 54">
            <a:extLst>
              <a:ext uri="{FF2B5EF4-FFF2-40B4-BE49-F238E27FC236}">
                <a16:creationId xmlns:a16="http://schemas.microsoft.com/office/drawing/2014/main" id="{40092F9B-0F16-FB2B-0FD0-B2A6F9A8352C}"/>
              </a:ext>
            </a:extLst>
          </p:cNvPr>
          <p:cNvSpPr txBox="1"/>
          <p:nvPr/>
        </p:nvSpPr>
        <p:spPr>
          <a:xfrm>
            <a:off x="6916476" y="6554046"/>
            <a:ext cx="2649717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오버로드</a:t>
            </a:r>
            <a:endParaRPr lang="en-US" altLang="ko-KR" sz="2400" b="1" dirty="0"/>
          </a:p>
          <a:p>
            <a:endParaRPr lang="en-US" dirty="0"/>
          </a:p>
        </p:txBody>
      </p:sp>
      <p:grpSp>
        <p:nvGrpSpPr>
          <p:cNvPr id="999" name="그룹 1014">
            <a:extLst>
              <a:ext uri="{FF2B5EF4-FFF2-40B4-BE49-F238E27FC236}">
                <a16:creationId xmlns:a16="http://schemas.microsoft.com/office/drawing/2014/main" id="{3611EA64-1F0B-5E44-9E41-B9F8345DCC67}"/>
              </a:ext>
            </a:extLst>
          </p:cNvPr>
          <p:cNvGrpSpPr/>
          <p:nvPr/>
        </p:nvGrpSpPr>
        <p:grpSpPr>
          <a:xfrm>
            <a:off x="5899162" y="7473955"/>
            <a:ext cx="5971315" cy="1104425"/>
            <a:chOff x="5899162" y="7473955"/>
            <a:chExt cx="5971315" cy="1104425"/>
          </a:xfrm>
        </p:grpSpPr>
        <p:pic>
          <p:nvPicPr>
            <p:cNvPr id="1000" name="Object 56">
              <a:extLst>
                <a:ext uri="{FF2B5EF4-FFF2-40B4-BE49-F238E27FC236}">
                  <a16:creationId xmlns:a16="http://schemas.microsoft.com/office/drawing/2014/main" id="{277BB2EC-6B4B-DDDB-4BAA-DD56771D0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162" y="7473955"/>
              <a:ext cx="5971315" cy="1104425"/>
            </a:xfrm>
            <a:prstGeom prst="rect">
              <a:avLst/>
            </a:prstGeom>
          </p:spPr>
        </p:pic>
      </p:grpSp>
      <p:grpSp>
        <p:nvGrpSpPr>
          <p:cNvPr id="1002" name="그룹 1015">
            <a:extLst>
              <a:ext uri="{FF2B5EF4-FFF2-40B4-BE49-F238E27FC236}">
                <a16:creationId xmlns:a16="http://schemas.microsoft.com/office/drawing/2014/main" id="{F0421FC8-BA1A-B289-EAF8-421975C95642}"/>
              </a:ext>
            </a:extLst>
          </p:cNvPr>
          <p:cNvGrpSpPr/>
          <p:nvPr/>
        </p:nvGrpSpPr>
        <p:grpSpPr>
          <a:xfrm>
            <a:off x="4791225" y="7930712"/>
            <a:ext cx="1102955" cy="176040"/>
            <a:chOff x="4791225" y="7930712"/>
            <a:chExt cx="1102955" cy="176040"/>
          </a:xfrm>
        </p:grpSpPr>
        <p:pic>
          <p:nvPicPr>
            <p:cNvPr id="1003" name="Object 59">
              <a:extLst>
                <a:ext uri="{FF2B5EF4-FFF2-40B4-BE49-F238E27FC236}">
                  <a16:creationId xmlns:a16="http://schemas.microsoft.com/office/drawing/2014/main" id="{E0C568C6-D928-D5BB-14E7-0EC79947B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0800000">
              <a:off x="4791225" y="7930712"/>
              <a:ext cx="1102955" cy="176040"/>
            </a:xfrm>
            <a:prstGeom prst="rect">
              <a:avLst/>
            </a:prstGeom>
          </p:spPr>
        </p:pic>
      </p:grpSp>
      <p:sp>
        <p:nvSpPr>
          <p:cNvPr id="1005" name="Object 63">
            <a:extLst>
              <a:ext uri="{FF2B5EF4-FFF2-40B4-BE49-F238E27FC236}">
                <a16:creationId xmlns:a16="http://schemas.microsoft.com/office/drawing/2014/main" id="{4DECE2AE-62AA-E342-305C-4F74FDD3AEF3}"/>
              </a:ext>
            </a:extLst>
          </p:cNvPr>
          <p:cNvSpPr txBox="1"/>
          <p:nvPr/>
        </p:nvSpPr>
        <p:spPr>
          <a:xfrm>
            <a:off x="6978200" y="7847503"/>
            <a:ext cx="419559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400" b="1" dirty="0">
                <a:solidFill>
                  <a:srgbClr val="1A1918"/>
                </a:solidFill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정보의 질과 프라이버시 문제</a:t>
            </a:r>
            <a:endParaRPr lang="en-US" altLang="ko-KR" sz="2400" dirty="0"/>
          </a:p>
        </p:txBody>
      </p:sp>
      <p:sp>
        <p:nvSpPr>
          <p:cNvPr id="1016" name="Object 37">
            <a:extLst>
              <a:ext uri="{FF2B5EF4-FFF2-40B4-BE49-F238E27FC236}">
                <a16:creationId xmlns:a16="http://schemas.microsoft.com/office/drawing/2014/main" id="{46BF0876-185A-0534-3695-7A58B02656FA}"/>
              </a:ext>
            </a:extLst>
          </p:cNvPr>
          <p:cNvSpPr txBox="1"/>
          <p:nvPr/>
        </p:nvSpPr>
        <p:spPr>
          <a:xfrm>
            <a:off x="12132874" y="3713100"/>
            <a:ext cx="495251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개인에 맞춘 여행 계획으로 개인화 서비스를 통해 사용자의 만족도를 높일 수 있으며 </a:t>
            </a:r>
            <a:r>
              <a:rPr lang="en-US" altLang="ko-KR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1:1 </a:t>
            </a:r>
            <a:r>
              <a:rPr lang="ko-KR" altLang="en-US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대화를 통해 직접적인 후기를 들을 수 있고 궁금증을 해결할 수 있습니다</a:t>
            </a:r>
            <a:r>
              <a:rPr lang="en-US" altLang="ko-KR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17" name="Object 65">
            <a:extLst>
              <a:ext uri="{FF2B5EF4-FFF2-40B4-BE49-F238E27FC236}">
                <a16:creationId xmlns:a16="http://schemas.microsoft.com/office/drawing/2014/main" id="{F5D92D02-CF43-DB80-8189-A5E9E8EAB3DA}"/>
              </a:ext>
            </a:extLst>
          </p:cNvPr>
          <p:cNvSpPr txBox="1"/>
          <p:nvPr/>
        </p:nvSpPr>
        <p:spPr>
          <a:xfrm>
            <a:off x="12129560" y="5137329"/>
            <a:ext cx="471063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스케줄러 프로그래밍에서 멀티 스레드를 사용하여</a:t>
            </a:r>
            <a:r>
              <a:rPr lang="en-US" altLang="ko-KR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 리소스를 보다 효율적으로 관리할 수 있습니다</a:t>
            </a:r>
            <a:r>
              <a:rPr lang="en-US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18" name="Object 66">
            <a:extLst>
              <a:ext uri="{FF2B5EF4-FFF2-40B4-BE49-F238E27FC236}">
                <a16:creationId xmlns:a16="http://schemas.microsoft.com/office/drawing/2014/main" id="{504E7692-836E-0D4B-37A4-193FD0B4DA55}"/>
              </a:ext>
            </a:extLst>
          </p:cNvPr>
          <p:cNvSpPr txBox="1"/>
          <p:nvPr/>
        </p:nvSpPr>
        <p:spPr>
          <a:xfrm>
            <a:off x="12129561" y="6277008"/>
            <a:ext cx="5777439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사용자</a:t>
            </a:r>
            <a:r>
              <a:rPr lang="en-US" altLang="ko-KR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수의 증가로 인해 사용자가 많은 데이터를 입력하고</a:t>
            </a:r>
            <a:r>
              <a:rPr lang="en-US" altLang="ko-KR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대규모의 정보를 실시간으로 조회하는 과정에서 시스템 오버로드가 일어날 수 있으며 이를 해결하기 위해 강력한 서버를 사용하는데 많은 비용과 노력이 들어갈 수 있습니다</a:t>
            </a:r>
            <a:endParaRPr lang="en-US" dirty="0"/>
          </a:p>
        </p:txBody>
      </p:sp>
      <p:sp>
        <p:nvSpPr>
          <p:cNvPr id="1019" name="Object 67">
            <a:extLst>
              <a:ext uri="{FF2B5EF4-FFF2-40B4-BE49-F238E27FC236}">
                <a16:creationId xmlns:a16="http://schemas.microsoft.com/office/drawing/2014/main" id="{100A6291-9B2F-B293-1CBB-037A505DB05B}"/>
              </a:ext>
            </a:extLst>
          </p:cNvPr>
          <p:cNvSpPr txBox="1"/>
          <p:nvPr/>
        </p:nvSpPr>
        <p:spPr>
          <a:xfrm>
            <a:off x="12129561" y="7701237"/>
            <a:ext cx="5174476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800" b="0" i="0" dirty="0">
                <a:solidFill>
                  <a:srgbClr val="1A1918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부정확하거나 오래된 정보를</a:t>
            </a:r>
            <a:r>
              <a:rPr lang="en-US" altLang="ko-KR" sz="1800" dirty="0">
                <a:solidFill>
                  <a:srgbClr val="1A1918"/>
                </a:solidFill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800" dirty="0">
                <a:solidFill>
                  <a:srgbClr val="1A1918"/>
                </a:solidFill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걸러낼 수 있는 시스템이 따로 필요 할 수 있으며 </a:t>
            </a:r>
            <a:r>
              <a:rPr lang="en-US" altLang="ko-KR" sz="1800" dirty="0">
                <a:solidFill>
                  <a:srgbClr val="1A1918"/>
                </a:solidFill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1:1 </a:t>
            </a:r>
            <a:r>
              <a:rPr lang="ko-KR" altLang="en-US" sz="1800" dirty="0">
                <a:solidFill>
                  <a:srgbClr val="1A1918"/>
                </a:solidFill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대화를 통해 사용자의 프라이버시가 노출 될 수 있습니다</a:t>
            </a:r>
            <a:r>
              <a:rPr lang="en-US" altLang="ko-KR" sz="1800" dirty="0">
                <a:solidFill>
                  <a:srgbClr val="1A1918"/>
                </a:solidFill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lang="en-US" altLang="ko-KR" sz="1800" dirty="0"/>
          </a:p>
        </p:txBody>
      </p:sp>
      <p:grpSp>
        <p:nvGrpSpPr>
          <p:cNvPr id="1020" name="그룹 1001">
            <a:extLst>
              <a:ext uri="{FF2B5EF4-FFF2-40B4-BE49-F238E27FC236}">
                <a16:creationId xmlns:a16="http://schemas.microsoft.com/office/drawing/2014/main" id="{C7A6CAA1-316A-3460-F556-9049F58E3EF2}"/>
              </a:ext>
            </a:extLst>
          </p:cNvPr>
          <p:cNvGrpSpPr/>
          <p:nvPr/>
        </p:nvGrpSpPr>
        <p:grpSpPr>
          <a:xfrm>
            <a:off x="14789794" y="791403"/>
            <a:ext cx="1852248" cy="369332"/>
            <a:chOff x="14789794" y="791403"/>
            <a:chExt cx="1852248" cy="369332"/>
          </a:xfrm>
        </p:grpSpPr>
        <p:grpSp>
          <p:nvGrpSpPr>
            <p:cNvPr id="1021" name="그룹 1002">
              <a:extLst>
                <a:ext uri="{FF2B5EF4-FFF2-40B4-BE49-F238E27FC236}">
                  <a16:creationId xmlns:a16="http://schemas.microsoft.com/office/drawing/2014/main" id="{F53D5983-B3F0-A6B2-C359-39A27D27ED01}"/>
                </a:ext>
              </a:extLst>
            </p:cNvPr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1023" name="Object 3">
                <a:extLst>
                  <a:ext uri="{FF2B5EF4-FFF2-40B4-BE49-F238E27FC236}">
                    <a16:creationId xmlns:a16="http://schemas.microsoft.com/office/drawing/2014/main" id="{78D47B6B-C99C-E608-6234-437B60DC06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1022" name="Object 6">
              <a:extLst>
                <a:ext uri="{FF2B5EF4-FFF2-40B4-BE49-F238E27FC236}">
                  <a16:creationId xmlns:a16="http://schemas.microsoft.com/office/drawing/2014/main" id="{542E7F82-CA86-AA83-69F9-88DB0716A01B}"/>
                </a:ext>
              </a:extLst>
            </p:cNvPr>
            <p:cNvSpPr txBox="1"/>
            <p:nvPr/>
          </p:nvSpPr>
          <p:spPr>
            <a:xfrm>
              <a:off x="14789794" y="791403"/>
              <a:ext cx="18522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24" name="Object 97">
            <a:extLst>
              <a:ext uri="{FF2B5EF4-FFF2-40B4-BE49-F238E27FC236}">
                <a16:creationId xmlns:a16="http://schemas.microsoft.com/office/drawing/2014/main" id="{4AB5230E-78DD-B53F-EC10-42EF65B5FCB7}"/>
              </a:ext>
            </a:extLst>
          </p:cNvPr>
          <p:cNvSpPr txBox="1"/>
          <p:nvPr/>
        </p:nvSpPr>
        <p:spPr>
          <a:xfrm>
            <a:off x="14906414" y="832520"/>
            <a:ext cx="185224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000000"/>
                </a:solidFill>
                <a:latin typeface="Pretendard Medium" pitchFamily="34" charset="0"/>
              </a:rPr>
              <a:t>  Network Programming</a:t>
            </a:r>
            <a:endParaRPr lang="en-US" dirty="0"/>
          </a:p>
        </p:txBody>
      </p:sp>
      <p:sp>
        <p:nvSpPr>
          <p:cNvPr id="1025" name="Object 34">
            <a:extLst>
              <a:ext uri="{FF2B5EF4-FFF2-40B4-BE49-F238E27FC236}">
                <a16:creationId xmlns:a16="http://schemas.microsoft.com/office/drawing/2014/main" id="{4DA3B866-4C09-AC1C-A483-831C8C3FAF6F}"/>
              </a:ext>
            </a:extLst>
          </p:cNvPr>
          <p:cNvSpPr txBox="1"/>
          <p:nvPr/>
        </p:nvSpPr>
        <p:spPr>
          <a:xfrm>
            <a:off x="5766954" y="4009502"/>
            <a:ext cx="114536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1026" name="Object 44">
            <a:extLst>
              <a:ext uri="{FF2B5EF4-FFF2-40B4-BE49-F238E27FC236}">
                <a16:creationId xmlns:a16="http://schemas.microsoft.com/office/drawing/2014/main" id="{C6C19520-BC19-A6E8-EC17-5DBC6B627769}"/>
              </a:ext>
            </a:extLst>
          </p:cNvPr>
          <p:cNvSpPr txBox="1"/>
          <p:nvPr/>
        </p:nvSpPr>
        <p:spPr>
          <a:xfrm>
            <a:off x="5766953" y="5212259"/>
            <a:ext cx="1145367" cy="5391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1027" name="Object 53">
            <a:extLst>
              <a:ext uri="{FF2B5EF4-FFF2-40B4-BE49-F238E27FC236}">
                <a16:creationId xmlns:a16="http://schemas.microsoft.com/office/drawing/2014/main" id="{A18B5745-A65F-3A5D-2BF6-9AC75272908E}"/>
              </a:ext>
            </a:extLst>
          </p:cNvPr>
          <p:cNvSpPr txBox="1"/>
          <p:nvPr/>
        </p:nvSpPr>
        <p:spPr>
          <a:xfrm>
            <a:off x="5766953" y="6554046"/>
            <a:ext cx="114536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</a:t>
            </a:r>
            <a:r>
              <a:rPr lang="en-US" altLang="ko-KR" sz="20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1</a:t>
            </a:r>
            <a:endParaRPr lang="en-US" dirty="0"/>
          </a:p>
        </p:txBody>
      </p:sp>
      <p:sp>
        <p:nvSpPr>
          <p:cNvPr id="1028" name="Object 62">
            <a:extLst>
              <a:ext uri="{FF2B5EF4-FFF2-40B4-BE49-F238E27FC236}">
                <a16:creationId xmlns:a16="http://schemas.microsoft.com/office/drawing/2014/main" id="{3DB2B3AB-8B21-1F0F-C60F-A805FE2E67F2}"/>
              </a:ext>
            </a:extLst>
          </p:cNvPr>
          <p:cNvSpPr txBox="1"/>
          <p:nvPr/>
        </p:nvSpPr>
        <p:spPr>
          <a:xfrm>
            <a:off x="5766953" y="7826312"/>
            <a:ext cx="114536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grpSp>
        <p:nvGrpSpPr>
          <p:cNvPr id="1030" name="그룹 1003">
            <a:extLst>
              <a:ext uri="{FF2B5EF4-FFF2-40B4-BE49-F238E27FC236}">
                <a16:creationId xmlns:a16="http://schemas.microsoft.com/office/drawing/2014/main" id="{609E65EF-9479-424E-C283-9EA3A6180602}"/>
              </a:ext>
            </a:extLst>
          </p:cNvPr>
          <p:cNvGrpSpPr/>
          <p:nvPr/>
        </p:nvGrpSpPr>
        <p:grpSpPr>
          <a:xfrm>
            <a:off x="5025617" y="4393879"/>
            <a:ext cx="816399" cy="977544"/>
            <a:chOff x="2485317" y="4732261"/>
            <a:chExt cx="1209921" cy="1195238"/>
          </a:xfrm>
        </p:grpSpPr>
        <p:pic>
          <p:nvPicPr>
            <p:cNvPr id="1031" name="Object 8">
              <a:extLst>
                <a:ext uri="{FF2B5EF4-FFF2-40B4-BE49-F238E27FC236}">
                  <a16:creationId xmlns:a16="http://schemas.microsoft.com/office/drawing/2014/main" id="{2D1F575E-1860-7150-4CF8-EA99D9060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5317" y="4732261"/>
              <a:ext cx="1209921" cy="1195238"/>
            </a:xfrm>
            <a:prstGeom prst="rect">
              <a:avLst/>
            </a:prstGeom>
          </p:spPr>
        </p:pic>
      </p:grpSp>
      <p:sp>
        <p:nvSpPr>
          <p:cNvPr id="1032" name="Object 44">
            <a:extLst>
              <a:ext uri="{FF2B5EF4-FFF2-40B4-BE49-F238E27FC236}">
                <a16:creationId xmlns:a16="http://schemas.microsoft.com/office/drawing/2014/main" id="{82D551BC-DF47-C42A-37CD-06B9296CFE92}"/>
              </a:ext>
            </a:extLst>
          </p:cNvPr>
          <p:cNvSpPr txBox="1"/>
          <p:nvPr/>
        </p:nvSpPr>
        <p:spPr>
          <a:xfrm>
            <a:off x="5025616" y="4693187"/>
            <a:ext cx="81639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장점</a:t>
            </a:r>
            <a:endParaRPr lang="en-US" sz="2000" dirty="0"/>
          </a:p>
        </p:txBody>
      </p:sp>
      <p:pic>
        <p:nvPicPr>
          <p:cNvPr id="3" name="그래픽 2" descr="연필 단색으로 채워진">
            <a:extLst>
              <a:ext uri="{FF2B5EF4-FFF2-40B4-BE49-F238E27FC236}">
                <a16:creationId xmlns:a16="http://schemas.microsoft.com/office/drawing/2014/main" id="{3FF1EE0B-E0CC-8B90-6338-B087177CB4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38038" y="4855564"/>
            <a:ext cx="914400" cy="914400"/>
          </a:xfrm>
          <a:prstGeom prst="rect">
            <a:avLst/>
          </a:prstGeom>
        </p:spPr>
      </p:pic>
      <p:grpSp>
        <p:nvGrpSpPr>
          <p:cNvPr id="18" name="그룹 1003">
            <a:extLst>
              <a:ext uri="{FF2B5EF4-FFF2-40B4-BE49-F238E27FC236}">
                <a16:creationId xmlns:a16="http://schemas.microsoft.com/office/drawing/2014/main" id="{A78B4142-A30F-4FF8-7CDD-E395B8CA6633}"/>
              </a:ext>
            </a:extLst>
          </p:cNvPr>
          <p:cNvGrpSpPr/>
          <p:nvPr/>
        </p:nvGrpSpPr>
        <p:grpSpPr>
          <a:xfrm>
            <a:off x="5055105" y="6890065"/>
            <a:ext cx="816399" cy="977544"/>
            <a:chOff x="2485317" y="4732261"/>
            <a:chExt cx="1209921" cy="1195238"/>
          </a:xfrm>
        </p:grpSpPr>
        <p:pic>
          <p:nvPicPr>
            <p:cNvPr id="21" name="Object 8">
              <a:extLst>
                <a:ext uri="{FF2B5EF4-FFF2-40B4-BE49-F238E27FC236}">
                  <a16:creationId xmlns:a16="http://schemas.microsoft.com/office/drawing/2014/main" id="{5DC6C7F4-D277-756C-F3FF-AC88C31B6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5317" y="4732261"/>
              <a:ext cx="1209921" cy="1195238"/>
            </a:xfrm>
            <a:prstGeom prst="rect">
              <a:avLst/>
            </a:prstGeom>
          </p:spPr>
        </p:pic>
      </p:grpSp>
      <p:sp>
        <p:nvSpPr>
          <p:cNvPr id="24" name="Object 44">
            <a:extLst>
              <a:ext uri="{FF2B5EF4-FFF2-40B4-BE49-F238E27FC236}">
                <a16:creationId xmlns:a16="http://schemas.microsoft.com/office/drawing/2014/main" id="{B9840173-DF66-FF40-5292-5AD2FC6CE14D}"/>
              </a:ext>
            </a:extLst>
          </p:cNvPr>
          <p:cNvSpPr txBox="1"/>
          <p:nvPr/>
        </p:nvSpPr>
        <p:spPr>
          <a:xfrm>
            <a:off x="5055105" y="7185899"/>
            <a:ext cx="81639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단점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25801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90476" y="3552381"/>
            <a:ext cx="6838095" cy="2142857"/>
            <a:chOff x="1290476" y="3552381"/>
            <a:chExt cx="6838095" cy="214285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0476" y="3552381"/>
              <a:ext cx="6838095" cy="214285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0161905" y="3552381"/>
            <a:ext cx="6838095" cy="2142857"/>
            <a:chOff x="10161905" y="3552381"/>
            <a:chExt cx="6838095" cy="21428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61905" y="3552381"/>
              <a:ext cx="6838095" cy="21428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90476" y="6419048"/>
            <a:ext cx="6838095" cy="2142857"/>
            <a:chOff x="1290476" y="6419048"/>
            <a:chExt cx="6838095" cy="2142857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0476" y="6419048"/>
              <a:ext cx="6838095" cy="214285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157143" y="6419048"/>
            <a:ext cx="6838095" cy="2142857"/>
            <a:chOff x="10157143" y="6419048"/>
            <a:chExt cx="6838095" cy="2142857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57143" y="6419048"/>
              <a:ext cx="6838095" cy="214285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8556944" y="5364286"/>
            <a:ext cx="1209921" cy="1195238"/>
            <a:chOff x="8556944" y="5364286"/>
            <a:chExt cx="1209921" cy="119523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56944" y="5364286"/>
              <a:ext cx="1209921" cy="1195238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8047619" y="4533785"/>
            <a:ext cx="749206" cy="795869"/>
            <a:chOff x="8047619" y="4533785"/>
            <a:chExt cx="749206" cy="795869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7619" y="4533785"/>
              <a:ext cx="749206" cy="795869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9497354" y="4533785"/>
            <a:ext cx="777979" cy="795869"/>
            <a:chOff x="9497354" y="4533785"/>
            <a:chExt cx="777979" cy="795869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97354" y="4533785"/>
              <a:ext cx="777979" cy="79586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8047619" y="6608893"/>
            <a:ext cx="749206" cy="795869"/>
            <a:chOff x="8047619" y="6608893"/>
            <a:chExt cx="749206" cy="795869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47619" y="6608893"/>
              <a:ext cx="749206" cy="795869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9497354" y="6608893"/>
            <a:ext cx="777979" cy="795869"/>
            <a:chOff x="9497354" y="6608893"/>
            <a:chExt cx="777979" cy="795869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97354" y="6608893"/>
              <a:ext cx="777979" cy="795869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4789794" y="791403"/>
            <a:ext cx="1852248" cy="369332"/>
            <a:chOff x="14789794" y="791403"/>
            <a:chExt cx="1852248" cy="369332"/>
          </a:xfrm>
        </p:grpSpPr>
        <p:grpSp>
          <p:nvGrpSpPr>
            <p:cNvPr id="1014" name="그룹 1014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40" name="Object 39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42" name="Object 42"/>
            <p:cNvSpPr txBox="1"/>
            <p:nvPr/>
          </p:nvSpPr>
          <p:spPr>
            <a:xfrm>
              <a:off x="14789794" y="791403"/>
              <a:ext cx="18522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45" name="Object 45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개발 제안</a:t>
            </a:r>
            <a:endParaRPr lang="en-US" dirty="0"/>
          </a:p>
        </p:txBody>
      </p:sp>
      <p:sp>
        <p:nvSpPr>
          <p:cNvPr id="46" name="Object 46"/>
          <p:cNvSpPr txBox="1"/>
          <p:nvPr/>
        </p:nvSpPr>
        <p:spPr>
          <a:xfrm>
            <a:off x="7785924" y="1512995"/>
            <a:ext cx="4070800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Proposal</a:t>
            </a:r>
            <a:endParaRPr lang="en-US" dirty="0"/>
          </a:p>
        </p:txBody>
      </p:sp>
      <p:sp>
        <p:nvSpPr>
          <p:cNvPr id="47" name="Object 47"/>
          <p:cNvSpPr txBox="1"/>
          <p:nvPr/>
        </p:nvSpPr>
        <p:spPr>
          <a:xfrm>
            <a:off x="7109072" y="4448340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49" name="Object 49"/>
          <p:cNvSpPr txBox="1"/>
          <p:nvPr/>
        </p:nvSpPr>
        <p:spPr>
          <a:xfrm>
            <a:off x="10074915" y="4448336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51" name="Object 51"/>
          <p:cNvSpPr txBox="1"/>
          <p:nvPr/>
        </p:nvSpPr>
        <p:spPr>
          <a:xfrm>
            <a:off x="6980571" y="7347602"/>
            <a:ext cx="1383314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53" name="Object 53"/>
          <p:cNvSpPr txBox="1"/>
          <p:nvPr/>
        </p:nvSpPr>
        <p:spPr>
          <a:xfrm>
            <a:off x="10046344" y="7347602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04</a:t>
            </a:r>
            <a:endParaRPr lang="en-US" dirty="0"/>
          </a:p>
        </p:txBody>
      </p:sp>
      <p:grpSp>
        <p:nvGrpSpPr>
          <p:cNvPr id="1016" name="그룹 1016"/>
          <p:cNvGrpSpPr/>
          <p:nvPr/>
        </p:nvGrpSpPr>
        <p:grpSpPr>
          <a:xfrm>
            <a:off x="1926888" y="4446122"/>
            <a:ext cx="4910024" cy="14286"/>
            <a:chOff x="1926888" y="4446122"/>
            <a:chExt cx="4910024" cy="14286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10800000">
              <a:off x="1926888" y="4446122"/>
              <a:ext cx="4910024" cy="14286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-533708" y="4555833"/>
            <a:ext cx="7495382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20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여행을 가본 누군가가 짰던 스케줄과 경험 등을 </a:t>
            </a:r>
            <a:endParaRPr lang="en-US" altLang="ko-KR" sz="2000" dirty="0">
              <a:solidFill>
                <a:srgbClr val="000000"/>
              </a:solidFill>
              <a:latin typeface="Pretendard Light" pitchFamily="34" charset="0"/>
              <a:cs typeface="Pretendard Light" pitchFamily="34" charset="0"/>
            </a:endParaRPr>
          </a:p>
          <a:p>
            <a:pPr algn="r"/>
            <a:r>
              <a:rPr lang="ko-KR" altLang="en-US" sz="20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수집하여 데이터화 한다</a:t>
            </a:r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.</a:t>
            </a:r>
            <a:endParaRPr lang="en-US" dirty="0"/>
          </a:p>
        </p:txBody>
      </p:sp>
      <p:sp>
        <p:nvSpPr>
          <p:cNvPr id="63" name="Object 63"/>
          <p:cNvSpPr txBox="1"/>
          <p:nvPr/>
        </p:nvSpPr>
        <p:spPr>
          <a:xfrm>
            <a:off x="2002921" y="6869444"/>
            <a:ext cx="5473579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스케줄러 구현</a:t>
            </a:r>
            <a:endParaRPr lang="en-US" dirty="0"/>
          </a:p>
        </p:txBody>
      </p:sp>
      <p:grpSp>
        <p:nvGrpSpPr>
          <p:cNvPr id="1017" name="그룹 1017"/>
          <p:cNvGrpSpPr/>
          <p:nvPr/>
        </p:nvGrpSpPr>
        <p:grpSpPr>
          <a:xfrm>
            <a:off x="1926888" y="7382359"/>
            <a:ext cx="4910024" cy="14286"/>
            <a:chOff x="1926888" y="7382359"/>
            <a:chExt cx="4910024" cy="14286"/>
          </a:xfrm>
        </p:grpSpPr>
        <p:pic>
          <p:nvPicPr>
            <p:cNvPr id="65" name="Object 64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10800000">
              <a:off x="1926888" y="7382359"/>
              <a:ext cx="4910024" cy="14286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1676399" y="7395032"/>
            <a:ext cx="5161693" cy="8771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여행을 가고자 하는 사람이 목적지</a:t>
            </a:r>
            <a:r>
              <a:rPr lang="en-US" altLang="ko-KR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, </a:t>
            </a:r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몇 박 몇일인지</a:t>
            </a:r>
            <a:r>
              <a:rPr lang="en-US" altLang="ko-KR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, </a:t>
            </a:r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예산</a:t>
            </a:r>
            <a:r>
              <a:rPr lang="en-US" altLang="ko-KR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, </a:t>
            </a:r>
            <a:r>
              <a:rPr lang="ko-KR" alt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여행 취향 등을 입력할 시에 저장해둔 리스트를 참고자료로 하여 스케줄러가 나오게 구현한다</a:t>
            </a:r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.</a:t>
            </a:r>
            <a:endParaRPr lang="en-US" dirty="0"/>
          </a:p>
        </p:txBody>
      </p:sp>
      <p:grpSp>
        <p:nvGrpSpPr>
          <p:cNvPr id="1018" name="그룹 1018"/>
          <p:cNvGrpSpPr/>
          <p:nvPr/>
        </p:nvGrpSpPr>
        <p:grpSpPr>
          <a:xfrm>
            <a:off x="11372245" y="4446122"/>
            <a:ext cx="4910024" cy="14286"/>
            <a:chOff x="11372245" y="4446122"/>
            <a:chExt cx="4910024" cy="14286"/>
          </a:xfrm>
        </p:grpSpPr>
        <p:pic>
          <p:nvPicPr>
            <p:cNvPr id="70" name="Object 6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10800000">
              <a:off x="11372245" y="4446122"/>
              <a:ext cx="4910024" cy="14286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11372245" y="4543434"/>
            <a:ext cx="5269797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0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 정보를 리스트로 작성할 수 있게 해 저장 기능과 공유 기능을 구현한다</a:t>
            </a:r>
            <a:r>
              <a:rPr lang="en-US" altLang="ko-KR" sz="20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.</a:t>
            </a:r>
            <a:endParaRPr lang="en-US" sz="2000" dirty="0"/>
          </a:p>
        </p:txBody>
      </p:sp>
      <p:sp>
        <p:nvSpPr>
          <p:cNvPr id="73" name="Object 73"/>
          <p:cNvSpPr txBox="1"/>
          <p:nvPr/>
        </p:nvSpPr>
        <p:spPr>
          <a:xfrm>
            <a:off x="11372245" y="6869444"/>
            <a:ext cx="5473579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</a:rPr>
              <a:t>1:1 </a:t>
            </a:r>
            <a:r>
              <a:rPr lang="ko-KR" altLang="en-US" sz="2300" b="1" dirty="0">
                <a:solidFill>
                  <a:srgbClr val="000000"/>
                </a:solidFill>
                <a:latin typeface="Pretendard Light" pitchFamily="34" charset="0"/>
              </a:rPr>
              <a:t>대화기능</a:t>
            </a:r>
            <a:endParaRPr lang="en-US" dirty="0"/>
          </a:p>
        </p:txBody>
      </p:sp>
      <p:grpSp>
        <p:nvGrpSpPr>
          <p:cNvPr id="1019" name="그룹 1019"/>
          <p:cNvGrpSpPr/>
          <p:nvPr/>
        </p:nvGrpSpPr>
        <p:grpSpPr>
          <a:xfrm>
            <a:off x="11372245" y="7382359"/>
            <a:ext cx="4910024" cy="14286"/>
            <a:chOff x="11372245" y="7382359"/>
            <a:chExt cx="4910024" cy="14286"/>
          </a:xfrm>
        </p:grpSpPr>
        <p:pic>
          <p:nvPicPr>
            <p:cNvPr id="75" name="Object 74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10800000">
              <a:off x="11372245" y="7382359"/>
              <a:ext cx="4910024" cy="14286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11372245" y="7371950"/>
            <a:ext cx="5086955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/>
              <a:t>여행 경험자인 상대와 </a:t>
            </a:r>
            <a:r>
              <a:rPr lang="en-US" altLang="ko-KR" dirty="0"/>
              <a:t>1:1 </a:t>
            </a:r>
            <a:r>
              <a:rPr lang="ko-KR" altLang="en-US" dirty="0"/>
              <a:t>대화 기능을 구현하여 직접 장단점과 후기를 들을 수 있게 하며  </a:t>
            </a:r>
            <a:r>
              <a:rPr lang="en-US" altLang="ko-KR" dirty="0" err="1"/>
              <a:t>sns</a:t>
            </a:r>
            <a:r>
              <a:rPr lang="ko-KR" altLang="en-US" dirty="0"/>
              <a:t>기능을 함께 사용한다</a:t>
            </a:r>
            <a:r>
              <a:rPr lang="en-US" altLang="ko-KR" sz="1700" dirty="0">
                <a:solidFill>
                  <a:srgbClr val="000000"/>
                </a:solidFill>
                <a:latin typeface="Pretendard Light" pitchFamily="34" charset="0"/>
              </a:rPr>
              <a:t>.</a:t>
            </a:r>
            <a:endParaRPr lang="en-US" dirty="0"/>
          </a:p>
        </p:txBody>
      </p:sp>
      <p:grpSp>
        <p:nvGrpSpPr>
          <p:cNvPr id="2" name="그룹 1001">
            <a:extLst>
              <a:ext uri="{FF2B5EF4-FFF2-40B4-BE49-F238E27FC236}">
                <a16:creationId xmlns:a16="http://schemas.microsoft.com/office/drawing/2014/main" id="{DDD4E410-02AA-A1F9-6F89-BA40629041FF}"/>
              </a:ext>
            </a:extLst>
          </p:cNvPr>
          <p:cNvGrpSpPr/>
          <p:nvPr/>
        </p:nvGrpSpPr>
        <p:grpSpPr>
          <a:xfrm>
            <a:off x="14789794" y="791403"/>
            <a:ext cx="1852248" cy="369332"/>
            <a:chOff x="14789794" y="791403"/>
            <a:chExt cx="1852248" cy="369332"/>
          </a:xfrm>
        </p:grpSpPr>
        <p:grpSp>
          <p:nvGrpSpPr>
            <p:cNvPr id="4" name="그룹 1002">
              <a:extLst>
                <a:ext uri="{FF2B5EF4-FFF2-40B4-BE49-F238E27FC236}">
                  <a16:creationId xmlns:a16="http://schemas.microsoft.com/office/drawing/2014/main" id="{944FBEB0-E740-0B85-81E5-350F2DC34E16}"/>
                </a:ext>
              </a:extLst>
            </p:cNvPr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7" name="Object 3">
                <a:extLst>
                  <a:ext uri="{FF2B5EF4-FFF2-40B4-BE49-F238E27FC236}">
                    <a16:creationId xmlns:a16="http://schemas.microsoft.com/office/drawing/2014/main" id="{A73959B9-858D-015A-5BA7-D24C59662C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5A2FFBA1-681C-488F-E13C-6CA3BE39E06E}"/>
                </a:ext>
              </a:extLst>
            </p:cNvPr>
            <p:cNvSpPr txBox="1"/>
            <p:nvPr/>
          </p:nvSpPr>
          <p:spPr>
            <a:xfrm>
              <a:off x="14789794" y="791403"/>
              <a:ext cx="18522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8" name="Object 97">
            <a:extLst>
              <a:ext uri="{FF2B5EF4-FFF2-40B4-BE49-F238E27FC236}">
                <a16:creationId xmlns:a16="http://schemas.microsoft.com/office/drawing/2014/main" id="{8CEA6DB2-15BD-0E07-31B0-2B7FCB9D68C5}"/>
              </a:ext>
            </a:extLst>
          </p:cNvPr>
          <p:cNvSpPr txBox="1"/>
          <p:nvPr/>
        </p:nvSpPr>
        <p:spPr>
          <a:xfrm>
            <a:off x="14906414" y="832520"/>
            <a:ext cx="185224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000000"/>
                </a:solidFill>
                <a:latin typeface="Pretendard Medium" pitchFamily="34" charset="0"/>
              </a:rPr>
              <a:t>  Network Programming</a:t>
            </a:r>
            <a:endParaRPr lang="en-US" dirty="0"/>
          </a:p>
        </p:txBody>
      </p:sp>
      <p:pic>
        <p:nvPicPr>
          <p:cNvPr id="10" name="그래픽 9" descr="연필 단색으로 채워진">
            <a:extLst>
              <a:ext uri="{FF2B5EF4-FFF2-40B4-BE49-F238E27FC236}">
                <a16:creationId xmlns:a16="http://schemas.microsoft.com/office/drawing/2014/main" id="{C2DFBC91-A1F2-2D8F-B613-154F95037B1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685656" y="5531526"/>
            <a:ext cx="914400" cy="914400"/>
          </a:xfrm>
          <a:prstGeom prst="rect">
            <a:avLst/>
          </a:prstGeom>
        </p:spPr>
      </p:pic>
      <p:sp>
        <p:nvSpPr>
          <p:cNvPr id="11" name="Object 73">
            <a:extLst>
              <a:ext uri="{FF2B5EF4-FFF2-40B4-BE49-F238E27FC236}">
                <a16:creationId xmlns:a16="http://schemas.microsoft.com/office/drawing/2014/main" id="{3304D814-57FB-7C68-039F-666D6FFE21A8}"/>
              </a:ext>
            </a:extLst>
          </p:cNvPr>
          <p:cNvSpPr txBox="1"/>
          <p:nvPr/>
        </p:nvSpPr>
        <p:spPr>
          <a:xfrm>
            <a:off x="1942030" y="3991091"/>
            <a:ext cx="5473579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300" b="1" dirty="0">
                <a:solidFill>
                  <a:srgbClr val="000000"/>
                </a:solidFill>
                <a:latin typeface="Pretendard Light" pitchFamily="34" charset="0"/>
              </a:rPr>
              <a:t>데이터 수집</a:t>
            </a:r>
            <a:endParaRPr lang="en-US" dirty="0"/>
          </a:p>
        </p:txBody>
      </p:sp>
      <p:sp>
        <p:nvSpPr>
          <p:cNvPr id="14" name="Object 73">
            <a:extLst>
              <a:ext uri="{FF2B5EF4-FFF2-40B4-BE49-F238E27FC236}">
                <a16:creationId xmlns:a16="http://schemas.microsoft.com/office/drawing/2014/main" id="{E5025B5F-94FA-5FBB-870C-C2F7954762B4}"/>
              </a:ext>
            </a:extLst>
          </p:cNvPr>
          <p:cNvSpPr txBox="1"/>
          <p:nvPr/>
        </p:nvSpPr>
        <p:spPr>
          <a:xfrm>
            <a:off x="11372245" y="3945878"/>
            <a:ext cx="5473579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300" b="1" dirty="0">
                <a:solidFill>
                  <a:srgbClr val="000000"/>
                </a:solidFill>
                <a:latin typeface="Pretendard Light" pitchFamily="34" charset="0"/>
              </a:rPr>
              <a:t>리스트로 데이터 저장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90476" y="3552381"/>
            <a:ext cx="6838095" cy="2142857"/>
            <a:chOff x="1290476" y="3552381"/>
            <a:chExt cx="6838095" cy="214285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0476" y="3552381"/>
              <a:ext cx="6838095" cy="214285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0161905" y="3552381"/>
            <a:ext cx="6838095" cy="2142857"/>
            <a:chOff x="10161905" y="3552381"/>
            <a:chExt cx="6838095" cy="214285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61905" y="3552381"/>
              <a:ext cx="6838095" cy="21428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90476" y="6419048"/>
            <a:ext cx="6838095" cy="2142857"/>
            <a:chOff x="1290476" y="6419048"/>
            <a:chExt cx="6838095" cy="2142857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0476" y="6419048"/>
              <a:ext cx="6838095" cy="214285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157143" y="6419048"/>
            <a:ext cx="6838095" cy="2142857"/>
            <a:chOff x="10157143" y="6419048"/>
            <a:chExt cx="6838095" cy="2142857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57143" y="6419048"/>
              <a:ext cx="6838095" cy="214285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8556944" y="5364286"/>
            <a:ext cx="1209921" cy="1195238"/>
            <a:chOff x="8556944" y="5364286"/>
            <a:chExt cx="1209921" cy="119523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56944" y="5364286"/>
              <a:ext cx="1209921" cy="1195238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8047619" y="4533785"/>
            <a:ext cx="749206" cy="795869"/>
            <a:chOff x="8047619" y="4533785"/>
            <a:chExt cx="749206" cy="795869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7619" y="4533785"/>
              <a:ext cx="749206" cy="795869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9497354" y="4533785"/>
            <a:ext cx="777979" cy="795869"/>
            <a:chOff x="9497354" y="4533785"/>
            <a:chExt cx="777979" cy="795869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97354" y="4533785"/>
              <a:ext cx="777979" cy="795869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8047619" y="6608893"/>
            <a:ext cx="749206" cy="795869"/>
            <a:chOff x="8047619" y="6608893"/>
            <a:chExt cx="749206" cy="795869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47619" y="6608893"/>
              <a:ext cx="749206" cy="795869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9497354" y="6608893"/>
            <a:ext cx="777979" cy="795869"/>
            <a:chOff x="9497354" y="6608893"/>
            <a:chExt cx="777979" cy="795869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97354" y="6608893"/>
              <a:ext cx="777979" cy="795869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4789794" y="791403"/>
            <a:ext cx="1852248" cy="369332"/>
            <a:chOff x="14789794" y="791403"/>
            <a:chExt cx="1852248" cy="369332"/>
          </a:xfrm>
        </p:grpSpPr>
        <p:grpSp>
          <p:nvGrpSpPr>
            <p:cNvPr id="1014" name="그룹 1014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40" name="Object 39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42" name="Object 42"/>
            <p:cNvSpPr txBox="1"/>
            <p:nvPr/>
          </p:nvSpPr>
          <p:spPr>
            <a:xfrm>
              <a:off x="14789794" y="791403"/>
              <a:ext cx="18522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45" name="Object 45"/>
          <p:cNvSpPr txBox="1"/>
          <p:nvPr/>
        </p:nvSpPr>
        <p:spPr>
          <a:xfrm>
            <a:off x="3380952" y="1383916"/>
            <a:ext cx="8480041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주제 선정</a:t>
            </a:r>
            <a:endParaRPr lang="en-US" dirty="0"/>
          </a:p>
        </p:txBody>
      </p:sp>
      <p:sp>
        <p:nvSpPr>
          <p:cNvPr id="46" name="Object 46"/>
          <p:cNvSpPr txBox="1"/>
          <p:nvPr/>
        </p:nvSpPr>
        <p:spPr>
          <a:xfrm>
            <a:off x="7785924" y="1512995"/>
            <a:ext cx="4070800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Proposal</a:t>
            </a:r>
            <a:endParaRPr lang="en-US" dirty="0"/>
          </a:p>
        </p:txBody>
      </p:sp>
      <p:sp>
        <p:nvSpPr>
          <p:cNvPr id="47" name="Object 47"/>
          <p:cNvSpPr txBox="1"/>
          <p:nvPr/>
        </p:nvSpPr>
        <p:spPr>
          <a:xfrm>
            <a:off x="7109072" y="4448340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48" name="Object 48"/>
          <p:cNvSpPr txBox="1"/>
          <p:nvPr/>
        </p:nvSpPr>
        <p:spPr>
          <a:xfrm>
            <a:off x="7251927" y="4169016"/>
            <a:ext cx="859658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항목</a:t>
            </a:r>
            <a:endParaRPr lang="en-US" dirty="0"/>
          </a:p>
        </p:txBody>
      </p:sp>
      <p:sp>
        <p:nvSpPr>
          <p:cNvPr id="49" name="Object 49"/>
          <p:cNvSpPr txBox="1"/>
          <p:nvPr/>
        </p:nvSpPr>
        <p:spPr>
          <a:xfrm>
            <a:off x="10074915" y="4448336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50" name="Object 50"/>
          <p:cNvSpPr txBox="1"/>
          <p:nvPr/>
        </p:nvSpPr>
        <p:spPr>
          <a:xfrm>
            <a:off x="10217790" y="4169016"/>
            <a:ext cx="859658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항목</a:t>
            </a:r>
            <a:endParaRPr lang="en-US" dirty="0"/>
          </a:p>
        </p:txBody>
      </p:sp>
      <p:sp>
        <p:nvSpPr>
          <p:cNvPr id="51" name="Object 51"/>
          <p:cNvSpPr txBox="1"/>
          <p:nvPr/>
        </p:nvSpPr>
        <p:spPr>
          <a:xfrm>
            <a:off x="6980571" y="7347602"/>
            <a:ext cx="1383314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52" name="Object 52"/>
          <p:cNvSpPr txBox="1"/>
          <p:nvPr/>
        </p:nvSpPr>
        <p:spPr>
          <a:xfrm>
            <a:off x="7242403" y="7068277"/>
            <a:ext cx="859658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항목</a:t>
            </a:r>
            <a:endParaRPr lang="en-US" dirty="0"/>
          </a:p>
        </p:txBody>
      </p:sp>
      <p:sp>
        <p:nvSpPr>
          <p:cNvPr id="53" name="Object 53"/>
          <p:cNvSpPr txBox="1"/>
          <p:nvPr/>
        </p:nvSpPr>
        <p:spPr>
          <a:xfrm>
            <a:off x="10046344" y="7347602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04</a:t>
            </a:r>
            <a:endParaRPr lang="en-US" dirty="0"/>
          </a:p>
        </p:txBody>
      </p:sp>
      <p:sp>
        <p:nvSpPr>
          <p:cNvPr id="54" name="Object 54"/>
          <p:cNvSpPr txBox="1"/>
          <p:nvPr/>
        </p:nvSpPr>
        <p:spPr>
          <a:xfrm>
            <a:off x="10189219" y="7068277"/>
            <a:ext cx="859658" cy="4474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항목</a:t>
            </a:r>
            <a:endParaRPr lang="en-US" dirty="0"/>
          </a:p>
        </p:txBody>
      </p:sp>
      <p:grpSp>
        <p:nvGrpSpPr>
          <p:cNvPr id="1015" name="그룹 1015"/>
          <p:cNvGrpSpPr/>
          <p:nvPr/>
        </p:nvGrpSpPr>
        <p:grpSpPr>
          <a:xfrm>
            <a:off x="8871424" y="5671434"/>
            <a:ext cx="580962" cy="580941"/>
            <a:chOff x="8871424" y="5671434"/>
            <a:chExt cx="580962" cy="580941"/>
          </a:xfrm>
        </p:grpSpPr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71424" y="5671434"/>
              <a:ext cx="580962" cy="580941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1357378" y="3857399"/>
            <a:ext cx="5473579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내용을 입력해주세요</a:t>
            </a:r>
            <a:endParaRPr lang="en-US" dirty="0"/>
          </a:p>
        </p:txBody>
      </p:sp>
      <p:grpSp>
        <p:nvGrpSpPr>
          <p:cNvPr id="1016" name="그룹 1016"/>
          <p:cNvGrpSpPr/>
          <p:nvPr/>
        </p:nvGrpSpPr>
        <p:grpSpPr>
          <a:xfrm>
            <a:off x="1926888" y="4446122"/>
            <a:ext cx="4910024" cy="14286"/>
            <a:chOff x="1926888" y="4446122"/>
            <a:chExt cx="4910024" cy="14286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10800000">
              <a:off x="1926888" y="4446122"/>
              <a:ext cx="4910024" cy="14286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-657289" y="4435611"/>
            <a:ext cx="7495382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관련된 내용을 입력해주세요. 도형의 크기를 자유롭게 변형시켜 용도에 맞춰 자유롭게 활용해보세요.</a:t>
            </a:r>
            <a:endParaRPr lang="en-US" dirty="0"/>
          </a:p>
        </p:txBody>
      </p:sp>
      <p:sp>
        <p:nvSpPr>
          <p:cNvPr id="63" name="Object 63"/>
          <p:cNvSpPr txBox="1"/>
          <p:nvPr/>
        </p:nvSpPr>
        <p:spPr>
          <a:xfrm>
            <a:off x="1357378" y="6793635"/>
            <a:ext cx="5473579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내용을 입력해주세요</a:t>
            </a:r>
            <a:endParaRPr lang="en-US" dirty="0"/>
          </a:p>
        </p:txBody>
      </p:sp>
      <p:grpSp>
        <p:nvGrpSpPr>
          <p:cNvPr id="1017" name="그룹 1017"/>
          <p:cNvGrpSpPr/>
          <p:nvPr/>
        </p:nvGrpSpPr>
        <p:grpSpPr>
          <a:xfrm>
            <a:off x="1926888" y="7382359"/>
            <a:ext cx="4910024" cy="14286"/>
            <a:chOff x="1926888" y="7382359"/>
            <a:chExt cx="4910024" cy="14286"/>
          </a:xfrm>
        </p:grpSpPr>
        <p:pic>
          <p:nvPicPr>
            <p:cNvPr id="65" name="Object 6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10800000">
              <a:off x="1926888" y="7382359"/>
              <a:ext cx="4910024" cy="14286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-657289" y="7371848"/>
            <a:ext cx="7495382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관련된 내용을 입력해주세요. 도형의 크기를 자유롭게 변형시켜 용도에 맞춰 자유롭게 활용해보세요.</a:t>
            </a:r>
            <a:endParaRPr lang="en-US" dirty="0"/>
          </a:p>
        </p:txBody>
      </p:sp>
      <p:sp>
        <p:nvSpPr>
          <p:cNvPr id="68" name="Object 68"/>
          <p:cNvSpPr txBox="1"/>
          <p:nvPr/>
        </p:nvSpPr>
        <p:spPr>
          <a:xfrm>
            <a:off x="11372245" y="3857399"/>
            <a:ext cx="5473579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내용을 입력해주세요</a:t>
            </a:r>
            <a:endParaRPr lang="en-US" dirty="0"/>
          </a:p>
        </p:txBody>
      </p:sp>
      <p:grpSp>
        <p:nvGrpSpPr>
          <p:cNvPr id="1018" name="그룹 1018"/>
          <p:cNvGrpSpPr/>
          <p:nvPr/>
        </p:nvGrpSpPr>
        <p:grpSpPr>
          <a:xfrm>
            <a:off x="11372245" y="4446122"/>
            <a:ext cx="4910024" cy="14286"/>
            <a:chOff x="11372245" y="4446122"/>
            <a:chExt cx="4910024" cy="14286"/>
          </a:xfrm>
        </p:grpSpPr>
        <p:pic>
          <p:nvPicPr>
            <p:cNvPr id="70" name="Object 69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10800000">
              <a:off x="11372245" y="4446122"/>
              <a:ext cx="4910024" cy="14286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11372245" y="4435611"/>
            <a:ext cx="7495382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관련된 내용을 입력해주세요. 도형의 크기를 자유롭게 변형시켜 용도에 맞춰 자유롭게 활용해보세요.</a:t>
            </a:r>
            <a:endParaRPr lang="en-US" dirty="0"/>
          </a:p>
        </p:txBody>
      </p:sp>
      <p:sp>
        <p:nvSpPr>
          <p:cNvPr id="73" name="Object 73"/>
          <p:cNvSpPr txBox="1"/>
          <p:nvPr/>
        </p:nvSpPr>
        <p:spPr>
          <a:xfrm>
            <a:off x="11372245" y="6793635"/>
            <a:ext cx="5473579" cy="5978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내용을 입력해주세요</a:t>
            </a:r>
            <a:endParaRPr lang="en-US" dirty="0"/>
          </a:p>
        </p:txBody>
      </p:sp>
      <p:grpSp>
        <p:nvGrpSpPr>
          <p:cNvPr id="1019" name="그룹 1019"/>
          <p:cNvGrpSpPr/>
          <p:nvPr/>
        </p:nvGrpSpPr>
        <p:grpSpPr>
          <a:xfrm>
            <a:off x="11372245" y="7382359"/>
            <a:ext cx="4910024" cy="14286"/>
            <a:chOff x="11372245" y="7382359"/>
            <a:chExt cx="4910024" cy="14286"/>
          </a:xfrm>
        </p:grpSpPr>
        <p:pic>
          <p:nvPicPr>
            <p:cNvPr id="75" name="Object 7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10800000">
              <a:off x="11372245" y="7382359"/>
              <a:ext cx="4910024" cy="14286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11372245" y="7371848"/>
            <a:ext cx="7495382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이곳에 관련된 내용을 입력해주세요. 도형의 크기를 자유롭게 변형시켜 용도에 맞춰 자유롭게 활용해보세요.</a:t>
            </a:r>
            <a:endParaRPr lang="en-US" dirty="0"/>
          </a:p>
        </p:txBody>
      </p:sp>
      <p:grpSp>
        <p:nvGrpSpPr>
          <p:cNvPr id="2" name="그룹 1001">
            <a:extLst>
              <a:ext uri="{FF2B5EF4-FFF2-40B4-BE49-F238E27FC236}">
                <a16:creationId xmlns:a16="http://schemas.microsoft.com/office/drawing/2014/main" id="{DDD4E410-02AA-A1F9-6F89-BA40629041FF}"/>
              </a:ext>
            </a:extLst>
          </p:cNvPr>
          <p:cNvGrpSpPr/>
          <p:nvPr/>
        </p:nvGrpSpPr>
        <p:grpSpPr>
          <a:xfrm>
            <a:off x="14789794" y="791403"/>
            <a:ext cx="1852248" cy="369332"/>
            <a:chOff x="14789794" y="791403"/>
            <a:chExt cx="1852248" cy="369332"/>
          </a:xfrm>
        </p:grpSpPr>
        <p:grpSp>
          <p:nvGrpSpPr>
            <p:cNvPr id="4" name="그룹 1002">
              <a:extLst>
                <a:ext uri="{FF2B5EF4-FFF2-40B4-BE49-F238E27FC236}">
                  <a16:creationId xmlns:a16="http://schemas.microsoft.com/office/drawing/2014/main" id="{944FBEB0-E740-0B85-81E5-350F2DC34E16}"/>
                </a:ext>
              </a:extLst>
            </p:cNvPr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7" name="Object 3">
                <a:extLst>
                  <a:ext uri="{FF2B5EF4-FFF2-40B4-BE49-F238E27FC236}">
                    <a16:creationId xmlns:a16="http://schemas.microsoft.com/office/drawing/2014/main" id="{A73959B9-858D-015A-5BA7-D24C59662C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5A2FFBA1-681C-488F-E13C-6CA3BE39E06E}"/>
                </a:ext>
              </a:extLst>
            </p:cNvPr>
            <p:cNvSpPr txBox="1"/>
            <p:nvPr/>
          </p:nvSpPr>
          <p:spPr>
            <a:xfrm>
              <a:off x="14789794" y="791403"/>
              <a:ext cx="18522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8" name="Object 97">
            <a:extLst>
              <a:ext uri="{FF2B5EF4-FFF2-40B4-BE49-F238E27FC236}">
                <a16:creationId xmlns:a16="http://schemas.microsoft.com/office/drawing/2014/main" id="{8CEA6DB2-15BD-0E07-31B0-2B7FCB9D68C5}"/>
              </a:ext>
            </a:extLst>
          </p:cNvPr>
          <p:cNvSpPr txBox="1"/>
          <p:nvPr/>
        </p:nvSpPr>
        <p:spPr>
          <a:xfrm>
            <a:off x="14906414" y="832520"/>
            <a:ext cx="185224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000000"/>
                </a:solidFill>
                <a:latin typeface="Pretendard Medium" pitchFamily="34" charset="0"/>
              </a:rPr>
              <a:t>  Network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197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556944" y="5364286"/>
            <a:ext cx="1209921" cy="1195238"/>
            <a:chOff x="8556944" y="5364286"/>
            <a:chExt cx="1209921" cy="119523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6944" y="5364286"/>
              <a:ext cx="1209921" cy="119523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82531" y="2375077"/>
            <a:ext cx="15720651" cy="250882"/>
            <a:chOff x="1282531" y="2375077"/>
            <a:chExt cx="15720651" cy="250882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2531" y="2375077"/>
              <a:ext cx="15720651" cy="25088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4789794" y="791403"/>
            <a:ext cx="1852248" cy="369332"/>
            <a:chOff x="14789794" y="791403"/>
            <a:chExt cx="1852248" cy="369332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18" name="Object 18"/>
            <p:cNvSpPr txBox="1"/>
            <p:nvPr/>
          </p:nvSpPr>
          <p:spPr>
            <a:xfrm>
              <a:off x="14789794" y="791403"/>
              <a:ext cx="18522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36500" y="1286694"/>
            <a:ext cx="1761914" cy="9672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21" name="Object 21"/>
          <p:cNvSpPr txBox="1"/>
          <p:nvPr/>
        </p:nvSpPr>
        <p:spPr>
          <a:xfrm>
            <a:off x="3380952" y="1184367"/>
            <a:ext cx="8480041" cy="11685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시스템 개발 제안</a:t>
            </a:r>
            <a:endParaRPr lang="en-US" dirty="0"/>
          </a:p>
        </p:txBody>
      </p:sp>
      <p:sp>
        <p:nvSpPr>
          <p:cNvPr id="22" name="Object 22"/>
          <p:cNvSpPr txBox="1"/>
          <p:nvPr/>
        </p:nvSpPr>
        <p:spPr>
          <a:xfrm>
            <a:off x="7785924" y="1512995"/>
            <a:ext cx="4070800" cy="511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9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System Proposal</a:t>
            </a:r>
            <a:endParaRPr lang="en-US" dirty="0"/>
          </a:p>
        </p:txBody>
      </p:sp>
      <p:grpSp>
        <p:nvGrpSpPr>
          <p:cNvPr id="1007" name="그룹 1007"/>
          <p:cNvGrpSpPr/>
          <p:nvPr/>
        </p:nvGrpSpPr>
        <p:grpSpPr>
          <a:xfrm>
            <a:off x="8871424" y="5671434"/>
            <a:ext cx="580962" cy="580941"/>
            <a:chOff x="8871424" y="5671434"/>
            <a:chExt cx="580962" cy="580941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71424" y="5671434"/>
              <a:ext cx="580962" cy="580941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290476" y="3552381"/>
            <a:ext cx="6838095" cy="1506706"/>
            <a:chOff x="1290476" y="3552381"/>
            <a:chExt cx="6838095" cy="1506706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0476" y="3552381"/>
              <a:ext cx="6838095" cy="1506706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109072" y="3955916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01</a:t>
            </a:r>
            <a:endParaRPr lang="en-US" dirty="0"/>
          </a:p>
        </p:txBody>
      </p:sp>
      <p:sp>
        <p:nvSpPr>
          <p:cNvPr id="30" name="Object 30"/>
          <p:cNvSpPr txBox="1"/>
          <p:nvPr/>
        </p:nvSpPr>
        <p:spPr>
          <a:xfrm>
            <a:off x="1652376" y="3792817"/>
            <a:ext cx="1338100" cy="1109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</a:t>
            </a:r>
          </a:p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입력</a:t>
            </a:r>
            <a:endParaRPr lang="en-US" dirty="0"/>
          </a:p>
        </p:txBody>
      </p:sp>
      <p:grpSp>
        <p:nvGrpSpPr>
          <p:cNvPr id="1009" name="그룹 1009"/>
          <p:cNvGrpSpPr/>
          <p:nvPr/>
        </p:nvGrpSpPr>
        <p:grpSpPr>
          <a:xfrm>
            <a:off x="2760491" y="4340476"/>
            <a:ext cx="914255" cy="14286"/>
            <a:chOff x="2760491" y="4340476"/>
            <a:chExt cx="914255" cy="14286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5400000">
              <a:off x="2760491" y="4340476"/>
              <a:ext cx="914255" cy="14286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780954" y="3885853"/>
            <a:ext cx="5085711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도형의 크기를 자유롭게 변형시켜 용도에 맞춰 자유롭게 활용해보세요.</a:t>
            </a:r>
            <a:endParaRPr lang="en-US" dirty="0"/>
          </a:p>
        </p:txBody>
      </p:sp>
      <p:grpSp>
        <p:nvGrpSpPr>
          <p:cNvPr id="1010" name="그룹 1010"/>
          <p:cNvGrpSpPr/>
          <p:nvPr/>
        </p:nvGrpSpPr>
        <p:grpSpPr>
          <a:xfrm>
            <a:off x="1290476" y="5303790"/>
            <a:ext cx="6838095" cy="1506706"/>
            <a:chOff x="1290476" y="5303790"/>
            <a:chExt cx="6838095" cy="150670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0476" y="5303790"/>
              <a:ext cx="6838095" cy="1506706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7109067" y="5707326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03</a:t>
            </a:r>
            <a:endParaRPr lang="en-US" dirty="0"/>
          </a:p>
        </p:txBody>
      </p:sp>
      <p:sp>
        <p:nvSpPr>
          <p:cNvPr id="39" name="Object 39"/>
          <p:cNvSpPr txBox="1"/>
          <p:nvPr/>
        </p:nvSpPr>
        <p:spPr>
          <a:xfrm>
            <a:off x="1652376" y="5544226"/>
            <a:ext cx="1338100" cy="1109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</a:t>
            </a:r>
          </a:p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입력</a:t>
            </a:r>
            <a:endParaRPr lang="en-US" dirty="0"/>
          </a:p>
        </p:txBody>
      </p:sp>
      <p:grpSp>
        <p:nvGrpSpPr>
          <p:cNvPr id="1011" name="그룹 1011"/>
          <p:cNvGrpSpPr/>
          <p:nvPr/>
        </p:nvGrpSpPr>
        <p:grpSpPr>
          <a:xfrm>
            <a:off x="2760491" y="6091885"/>
            <a:ext cx="914255" cy="14286"/>
            <a:chOff x="2760491" y="6091885"/>
            <a:chExt cx="914255" cy="14286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5400000">
              <a:off x="2760491" y="6091885"/>
              <a:ext cx="914255" cy="14286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1780954" y="5637262"/>
            <a:ext cx="5085711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도형의 크기를 자유롭게 변형시켜 용도에 맞춰 자유롭게 활용해보세요.</a:t>
            </a:r>
            <a:endParaRPr lang="en-US" dirty="0"/>
          </a:p>
        </p:txBody>
      </p:sp>
      <p:grpSp>
        <p:nvGrpSpPr>
          <p:cNvPr id="1012" name="그룹 1012"/>
          <p:cNvGrpSpPr/>
          <p:nvPr/>
        </p:nvGrpSpPr>
        <p:grpSpPr>
          <a:xfrm>
            <a:off x="1290476" y="7055199"/>
            <a:ext cx="6838095" cy="1506706"/>
            <a:chOff x="1290476" y="7055199"/>
            <a:chExt cx="6838095" cy="1506706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0476" y="7055199"/>
              <a:ext cx="6838095" cy="1506706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109067" y="7458736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05</a:t>
            </a:r>
            <a:endParaRPr lang="en-US" dirty="0"/>
          </a:p>
        </p:txBody>
      </p:sp>
      <p:sp>
        <p:nvSpPr>
          <p:cNvPr id="48" name="Object 48"/>
          <p:cNvSpPr txBox="1"/>
          <p:nvPr/>
        </p:nvSpPr>
        <p:spPr>
          <a:xfrm>
            <a:off x="1652376" y="7295635"/>
            <a:ext cx="1338100" cy="1109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</a:t>
            </a:r>
          </a:p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입력</a:t>
            </a:r>
            <a:endParaRPr lang="en-US" dirty="0"/>
          </a:p>
        </p:txBody>
      </p:sp>
      <p:grpSp>
        <p:nvGrpSpPr>
          <p:cNvPr id="1013" name="그룹 1013"/>
          <p:cNvGrpSpPr/>
          <p:nvPr/>
        </p:nvGrpSpPr>
        <p:grpSpPr>
          <a:xfrm>
            <a:off x="2760491" y="7843294"/>
            <a:ext cx="914255" cy="14286"/>
            <a:chOff x="2760491" y="7843294"/>
            <a:chExt cx="914255" cy="14286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5400000">
              <a:off x="2760491" y="7843294"/>
              <a:ext cx="914255" cy="14286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1780954" y="7388671"/>
            <a:ext cx="5085711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도형의 크기를 자유롭게 변형시켜 용도에 맞춰 자유롭게 활용해보세요.</a:t>
            </a:r>
            <a:endParaRPr lang="en-US" dirty="0"/>
          </a:p>
        </p:txBody>
      </p:sp>
      <p:grpSp>
        <p:nvGrpSpPr>
          <p:cNvPr id="1014" name="그룹 1014"/>
          <p:cNvGrpSpPr/>
          <p:nvPr/>
        </p:nvGrpSpPr>
        <p:grpSpPr>
          <a:xfrm>
            <a:off x="8034973" y="4243596"/>
            <a:ext cx="761852" cy="1086057"/>
            <a:chOff x="8034973" y="4243596"/>
            <a:chExt cx="761852" cy="1086057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34973" y="4243596"/>
              <a:ext cx="761852" cy="1086057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8044497" y="6608893"/>
            <a:ext cx="752329" cy="1243769"/>
            <a:chOff x="8044497" y="6608893"/>
            <a:chExt cx="752329" cy="1243769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44497" y="6608893"/>
              <a:ext cx="752329" cy="1243769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0165088" y="3552381"/>
            <a:ext cx="6838095" cy="1506706"/>
            <a:chOff x="10165088" y="3552381"/>
            <a:chExt cx="6838095" cy="1506706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65088" y="3552381"/>
              <a:ext cx="6838095" cy="1506706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10066153" y="3955916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02</a:t>
            </a:r>
            <a:endParaRPr lang="en-US" dirty="0"/>
          </a:p>
        </p:txBody>
      </p:sp>
      <p:sp>
        <p:nvSpPr>
          <p:cNvPr id="63" name="Object 63"/>
          <p:cNvSpPr txBox="1"/>
          <p:nvPr/>
        </p:nvSpPr>
        <p:spPr>
          <a:xfrm>
            <a:off x="11088969" y="3792817"/>
            <a:ext cx="1338100" cy="1109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</a:t>
            </a:r>
          </a:p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입력</a:t>
            </a:r>
            <a:endParaRPr lang="en-US" dirty="0"/>
          </a:p>
        </p:txBody>
      </p:sp>
      <p:grpSp>
        <p:nvGrpSpPr>
          <p:cNvPr id="1017" name="그룹 1017"/>
          <p:cNvGrpSpPr/>
          <p:nvPr/>
        </p:nvGrpSpPr>
        <p:grpSpPr>
          <a:xfrm>
            <a:off x="12197084" y="4340476"/>
            <a:ext cx="914255" cy="14286"/>
            <a:chOff x="12197084" y="4340476"/>
            <a:chExt cx="914255" cy="14286"/>
          </a:xfrm>
        </p:grpSpPr>
        <p:pic>
          <p:nvPicPr>
            <p:cNvPr id="65" name="Object 6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5400000">
              <a:off x="12197084" y="4340476"/>
              <a:ext cx="914255" cy="14286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11217547" y="3885853"/>
            <a:ext cx="5085711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도형의 크기를 자유롭게 변형시켜 용도에 맞춰 자유롭게 활용해보세요.</a:t>
            </a:r>
            <a:endParaRPr lang="en-US" dirty="0"/>
          </a:p>
        </p:txBody>
      </p:sp>
      <p:grpSp>
        <p:nvGrpSpPr>
          <p:cNvPr id="1018" name="그룹 1018"/>
          <p:cNvGrpSpPr/>
          <p:nvPr/>
        </p:nvGrpSpPr>
        <p:grpSpPr>
          <a:xfrm>
            <a:off x="10165088" y="5295238"/>
            <a:ext cx="6838095" cy="1506706"/>
            <a:chOff x="10165088" y="5295238"/>
            <a:chExt cx="6838095" cy="1506706"/>
          </a:xfrm>
        </p:grpSpPr>
        <p:pic>
          <p:nvPicPr>
            <p:cNvPr id="69" name="Object 6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65088" y="5295238"/>
              <a:ext cx="6838095" cy="1506706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10066153" y="5698774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04</a:t>
            </a:r>
            <a:endParaRPr lang="en-US" dirty="0"/>
          </a:p>
        </p:txBody>
      </p:sp>
      <p:sp>
        <p:nvSpPr>
          <p:cNvPr id="72" name="Object 72"/>
          <p:cNvSpPr txBox="1"/>
          <p:nvPr/>
        </p:nvSpPr>
        <p:spPr>
          <a:xfrm>
            <a:off x="11088969" y="5535674"/>
            <a:ext cx="1338100" cy="1109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</a:t>
            </a:r>
          </a:p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입력</a:t>
            </a:r>
            <a:endParaRPr lang="en-US" dirty="0"/>
          </a:p>
        </p:txBody>
      </p:sp>
      <p:grpSp>
        <p:nvGrpSpPr>
          <p:cNvPr id="1019" name="그룹 1019"/>
          <p:cNvGrpSpPr/>
          <p:nvPr/>
        </p:nvGrpSpPr>
        <p:grpSpPr>
          <a:xfrm>
            <a:off x="12197084" y="6083333"/>
            <a:ext cx="914255" cy="14286"/>
            <a:chOff x="12197084" y="6083333"/>
            <a:chExt cx="914255" cy="14286"/>
          </a:xfrm>
        </p:grpSpPr>
        <p:pic>
          <p:nvPicPr>
            <p:cNvPr id="74" name="Object 7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5400000">
              <a:off x="12197084" y="6083333"/>
              <a:ext cx="914255" cy="14286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11217547" y="5628710"/>
            <a:ext cx="5085711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도형의 크기를 자유롭게 변형시켜 용도에 맞춰 자유롭게 활용해보세요.</a:t>
            </a:r>
            <a:endParaRPr lang="en-US" dirty="0"/>
          </a:p>
        </p:txBody>
      </p:sp>
      <p:grpSp>
        <p:nvGrpSpPr>
          <p:cNvPr id="1020" name="그룹 1020"/>
          <p:cNvGrpSpPr/>
          <p:nvPr/>
        </p:nvGrpSpPr>
        <p:grpSpPr>
          <a:xfrm>
            <a:off x="10165088" y="7048591"/>
            <a:ext cx="6838095" cy="1506706"/>
            <a:chOff x="10165088" y="7048591"/>
            <a:chExt cx="6838095" cy="1506706"/>
          </a:xfrm>
        </p:grpSpPr>
        <p:pic>
          <p:nvPicPr>
            <p:cNvPr id="78" name="Object 77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65088" y="7048591"/>
              <a:ext cx="6838095" cy="1506706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10066153" y="7452126"/>
            <a:ext cx="1145367" cy="7329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06</a:t>
            </a:r>
            <a:endParaRPr lang="en-US" dirty="0"/>
          </a:p>
        </p:txBody>
      </p:sp>
      <p:sp>
        <p:nvSpPr>
          <p:cNvPr id="81" name="Object 81"/>
          <p:cNvSpPr txBox="1"/>
          <p:nvPr/>
        </p:nvSpPr>
        <p:spPr>
          <a:xfrm>
            <a:off x="11088969" y="7289026"/>
            <a:ext cx="1338100" cy="11096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키워드</a:t>
            </a:r>
          </a:p>
          <a:p>
            <a:pPr algn="r"/>
            <a:r>
              <a:rPr lang="en-US" sz="2300" b="1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입력</a:t>
            </a:r>
            <a:endParaRPr lang="en-US" dirty="0"/>
          </a:p>
        </p:txBody>
      </p:sp>
      <p:grpSp>
        <p:nvGrpSpPr>
          <p:cNvPr id="1021" name="그룹 1021"/>
          <p:cNvGrpSpPr/>
          <p:nvPr/>
        </p:nvGrpSpPr>
        <p:grpSpPr>
          <a:xfrm>
            <a:off x="12197084" y="7836686"/>
            <a:ext cx="914255" cy="14286"/>
            <a:chOff x="12197084" y="7836686"/>
            <a:chExt cx="914255" cy="14286"/>
          </a:xfrm>
        </p:grpSpPr>
        <p:pic>
          <p:nvPicPr>
            <p:cNvPr id="83" name="Object 82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5400000">
              <a:off x="12197084" y="7836686"/>
              <a:ext cx="914255" cy="14286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11217547" y="7382063"/>
            <a:ext cx="5085711" cy="9235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도형의 크기를 자유롭게 변형시켜 용도에 맞춰 자유롭게 활용해보세요.</a:t>
            </a:r>
            <a:endParaRPr lang="en-US" dirty="0"/>
          </a:p>
        </p:txBody>
      </p:sp>
      <p:grpSp>
        <p:nvGrpSpPr>
          <p:cNvPr id="1022" name="그룹 1022"/>
          <p:cNvGrpSpPr/>
          <p:nvPr/>
        </p:nvGrpSpPr>
        <p:grpSpPr>
          <a:xfrm>
            <a:off x="9490481" y="4243596"/>
            <a:ext cx="776090" cy="1086057"/>
            <a:chOff x="9490481" y="4243596"/>
            <a:chExt cx="776090" cy="1086057"/>
          </a:xfrm>
        </p:grpSpPr>
        <p:pic>
          <p:nvPicPr>
            <p:cNvPr id="87" name="Object 86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90481" y="4243596"/>
              <a:ext cx="776090" cy="1086057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8028571" y="5914286"/>
            <a:ext cx="492063" cy="176040"/>
            <a:chOff x="8028571" y="5914286"/>
            <a:chExt cx="492063" cy="176040"/>
          </a:xfrm>
        </p:grpSpPr>
        <p:pic>
          <p:nvPicPr>
            <p:cNvPr id="90" name="Object 89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 rot="10800000">
              <a:off x="8028571" y="5914286"/>
              <a:ext cx="492063" cy="176040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9766865" y="5914286"/>
            <a:ext cx="490278" cy="176040"/>
            <a:chOff x="9766865" y="5914286"/>
            <a:chExt cx="490278" cy="176040"/>
          </a:xfrm>
        </p:grpSpPr>
        <p:pic>
          <p:nvPicPr>
            <p:cNvPr id="93" name="Object 92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-10800000">
              <a:off x="9766865" y="5914286"/>
              <a:ext cx="490278" cy="176040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9490481" y="6608893"/>
            <a:ext cx="776090" cy="1243769"/>
            <a:chOff x="9490481" y="6608893"/>
            <a:chExt cx="776090" cy="1243769"/>
          </a:xfrm>
        </p:grpSpPr>
        <p:pic>
          <p:nvPicPr>
            <p:cNvPr id="96" name="Object 95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490481" y="6608893"/>
              <a:ext cx="776090" cy="1243769"/>
            </a:xfrm>
            <a:prstGeom prst="rect">
              <a:avLst/>
            </a:prstGeom>
          </p:spPr>
        </p:pic>
      </p:grpSp>
      <p:grpSp>
        <p:nvGrpSpPr>
          <p:cNvPr id="2" name="그룹 1001">
            <a:extLst>
              <a:ext uri="{FF2B5EF4-FFF2-40B4-BE49-F238E27FC236}">
                <a16:creationId xmlns:a16="http://schemas.microsoft.com/office/drawing/2014/main" id="{00713637-44F5-F00F-CA02-86DD550C395A}"/>
              </a:ext>
            </a:extLst>
          </p:cNvPr>
          <p:cNvGrpSpPr/>
          <p:nvPr/>
        </p:nvGrpSpPr>
        <p:grpSpPr>
          <a:xfrm>
            <a:off x="14789794" y="791403"/>
            <a:ext cx="1852248" cy="369332"/>
            <a:chOff x="14789794" y="791403"/>
            <a:chExt cx="1852248" cy="369332"/>
          </a:xfrm>
        </p:grpSpPr>
        <p:grpSp>
          <p:nvGrpSpPr>
            <p:cNvPr id="4" name="그룹 1002">
              <a:extLst>
                <a:ext uri="{FF2B5EF4-FFF2-40B4-BE49-F238E27FC236}">
                  <a16:creationId xmlns:a16="http://schemas.microsoft.com/office/drawing/2014/main" id="{DA9C6EA2-F221-AECE-DEA2-98DC7F663DC4}"/>
                </a:ext>
              </a:extLst>
            </p:cNvPr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7" name="Object 3">
                <a:extLst>
                  <a:ext uri="{FF2B5EF4-FFF2-40B4-BE49-F238E27FC236}">
                    <a16:creationId xmlns:a16="http://schemas.microsoft.com/office/drawing/2014/main" id="{BE26C90D-2A09-EF3D-A055-3EB342CB9A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1AE49E85-98FF-EE8F-94EA-44B4B8FB4A24}"/>
                </a:ext>
              </a:extLst>
            </p:cNvPr>
            <p:cNvSpPr txBox="1"/>
            <p:nvPr/>
          </p:nvSpPr>
          <p:spPr>
            <a:xfrm>
              <a:off x="14789794" y="791403"/>
              <a:ext cx="18522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8" name="Object 97">
            <a:extLst>
              <a:ext uri="{FF2B5EF4-FFF2-40B4-BE49-F238E27FC236}">
                <a16:creationId xmlns:a16="http://schemas.microsoft.com/office/drawing/2014/main" id="{5271493F-AD76-7B98-FCA2-2D70EBC6AD28}"/>
              </a:ext>
            </a:extLst>
          </p:cNvPr>
          <p:cNvSpPr txBox="1"/>
          <p:nvPr/>
        </p:nvSpPr>
        <p:spPr>
          <a:xfrm>
            <a:off x="14906414" y="832520"/>
            <a:ext cx="185224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000000"/>
                </a:solidFill>
                <a:latin typeface="Pretendard Medium" pitchFamily="34" charset="0"/>
              </a:rPr>
              <a:t>  Network Programming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2602359" y="7660714"/>
            <a:ext cx="4363548" cy="731349"/>
            <a:chOff x="12602359" y="7660714"/>
            <a:chExt cx="4363548" cy="731349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12974610" y="7660714"/>
              <a:ext cx="3580952" cy="731349"/>
              <a:chOff x="12974610" y="7660714"/>
              <a:chExt cx="3580952" cy="731349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2974610" y="7660714"/>
                <a:ext cx="3580952" cy="731349"/>
              </a:xfrm>
              <a:prstGeom prst="rect">
                <a:avLst/>
              </a:prstGeom>
            </p:spPr>
          </p:pic>
        </p:grpSp>
        <p:sp>
          <p:nvSpPr>
            <p:cNvPr id="6" name="Object 6"/>
            <p:cNvSpPr txBox="1"/>
            <p:nvPr/>
          </p:nvSpPr>
          <p:spPr>
            <a:xfrm>
              <a:off x="12602359" y="7837831"/>
              <a:ext cx="4363548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0000"/>
                  </a:solidFill>
                  <a:latin typeface="Pretendard Light" pitchFamily="34" charset="0"/>
                </a:rPr>
                <a:t>Network</a:t>
              </a:r>
              <a:r>
                <a:rPr lang="ko-KR" altLang="en-US" sz="2000" b="1" dirty="0">
                  <a:solidFill>
                    <a:srgbClr val="000000"/>
                  </a:solidFill>
                  <a:latin typeface="Pretendard Light" pitchFamily="34" charset="0"/>
                </a:rPr>
                <a:t> </a:t>
              </a:r>
              <a:r>
                <a:rPr lang="en-US" altLang="ko-KR" sz="2000" b="1" dirty="0">
                  <a:solidFill>
                    <a:srgbClr val="000000"/>
                  </a:solidFill>
                  <a:latin typeface="Pretendard Light" pitchFamily="34" charset="0"/>
                </a:rPr>
                <a:t>Programming</a:t>
              </a:r>
              <a:endParaRPr lang="en-US"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665076" y="2585718"/>
            <a:ext cx="489048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4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2024 Network Programming</a:t>
            </a:r>
            <a:endParaRPr lang="en-US" dirty="0"/>
          </a:p>
        </p:txBody>
      </p:sp>
      <p:sp>
        <p:nvSpPr>
          <p:cNvPr id="9" name="Object 9"/>
          <p:cNvSpPr txBox="1"/>
          <p:nvPr/>
        </p:nvSpPr>
        <p:spPr>
          <a:xfrm>
            <a:off x="9450788" y="3075323"/>
            <a:ext cx="7104774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30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네트워크 프로그래밍</a:t>
            </a:r>
            <a:r>
              <a:rPr lang="en-US" sz="3000" dirty="0">
                <a:solidFill>
                  <a:srgbClr val="000000"/>
                </a:solidFill>
                <a:latin typeface="Pretendard Light" pitchFamily="34" charset="0"/>
                <a:cs typeface="Pretendard Light" pitchFamily="34" charset="0"/>
              </a:rPr>
              <a:t> 제안서</a:t>
            </a:r>
            <a:endParaRPr lang="en-US" dirty="0"/>
          </a:p>
        </p:txBody>
      </p:sp>
      <p:sp>
        <p:nvSpPr>
          <p:cNvPr id="10" name="Object 10"/>
          <p:cNvSpPr txBox="1"/>
          <p:nvPr/>
        </p:nvSpPr>
        <p:spPr>
          <a:xfrm>
            <a:off x="6025513" y="3689031"/>
            <a:ext cx="10523460" cy="16312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0000" dirty="0">
                <a:solidFill>
                  <a:srgbClr val="000000"/>
                </a:solidFill>
                <a:latin typeface="Pretendard Light" pitchFamily="34" charset="0"/>
              </a:rPr>
              <a:t>감사합니다</a:t>
            </a:r>
            <a:r>
              <a:rPr lang="en-US" altLang="ko-KR" sz="10000" dirty="0">
                <a:solidFill>
                  <a:srgbClr val="000000"/>
                </a:solidFill>
                <a:latin typeface="Pretendard Light" pitchFamily="34" charset="0"/>
              </a:rPr>
              <a:t>!</a:t>
            </a:r>
            <a:endParaRPr lang="en-US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1474032" y="6085714"/>
            <a:ext cx="1201587" cy="1201587"/>
            <a:chOff x="1474032" y="6085714"/>
            <a:chExt cx="1201587" cy="1201587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4032" y="6085714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950222" y="2713492"/>
            <a:ext cx="1201587" cy="1201587"/>
            <a:chOff x="4950222" y="2713492"/>
            <a:chExt cx="1201587" cy="1201587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0222" y="2713492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856042" y="2713492"/>
            <a:ext cx="1201587" cy="1201587"/>
            <a:chOff x="6856042" y="2713492"/>
            <a:chExt cx="1201587" cy="1201587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6042" y="2713492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856042" y="4406878"/>
            <a:ext cx="1201587" cy="1201587"/>
            <a:chOff x="6856042" y="4406878"/>
            <a:chExt cx="1201587" cy="1201587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6042" y="4406878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4950222" y="5850794"/>
            <a:ext cx="1201587" cy="1201587"/>
            <a:chOff x="4950222" y="5850794"/>
            <a:chExt cx="1201587" cy="1201587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0222" y="5850794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3248106" y="7287302"/>
            <a:ext cx="1201587" cy="1201587"/>
            <a:chOff x="3248106" y="7287302"/>
            <a:chExt cx="1201587" cy="1201587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8106" y="7287302"/>
              <a:ext cx="1201587" cy="1201587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3200487" y="4562434"/>
            <a:ext cx="1328571" cy="400794"/>
            <a:chOff x="3200487" y="4562434"/>
            <a:chExt cx="1328571" cy="400794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0487" y="4562434"/>
              <a:ext cx="1328571" cy="400794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6805249" y="6295635"/>
            <a:ext cx="1328571" cy="400794"/>
            <a:chOff x="6805249" y="6295635"/>
            <a:chExt cx="1328571" cy="400794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05249" y="6295635"/>
              <a:ext cx="1328571" cy="400794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6099428" y="3269048"/>
            <a:ext cx="766138" cy="107021"/>
            <a:chOff x="6099428" y="3269048"/>
            <a:chExt cx="766138" cy="107021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9428" y="3269048"/>
              <a:ext cx="766138" cy="107021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7184542" y="4139876"/>
            <a:ext cx="556085" cy="107021"/>
            <a:chOff x="7184542" y="4139876"/>
            <a:chExt cx="556085" cy="107021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5400000">
              <a:off x="7184542" y="4139876"/>
              <a:ext cx="556085" cy="107021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6838984" y="7217984"/>
            <a:ext cx="1266534" cy="107021"/>
            <a:chOff x="6838984" y="7217984"/>
            <a:chExt cx="1266534" cy="107021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5400000">
              <a:off x="6838984" y="7217984"/>
              <a:ext cx="1266534" cy="107021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3818659" y="3313688"/>
            <a:ext cx="1131563" cy="1286312"/>
            <a:chOff x="3818659" y="3313688"/>
            <a:chExt cx="1131563" cy="1286312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8659" y="3313688"/>
              <a:ext cx="1131563" cy="1286312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3818659" y="4919688"/>
            <a:ext cx="1131563" cy="1531899"/>
            <a:chOff x="3818659" y="4919688"/>
            <a:chExt cx="1131563" cy="1531899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8659" y="4919688"/>
              <a:ext cx="1131563" cy="1531899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5094992" y="7405881"/>
            <a:ext cx="900265" cy="107021"/>
            <a:chOff x="5094992" y="7405881"/>
            <a:chExt cx="900265" cy="107021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5400000">
              <a:off x="5094992" y="7405881"/>
              <a:ext cx="900265" cy="107021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4384441" y="7847741"/>
            <a:ext cx="3072395" cy="107021"/>
            <a:chOff x="4384441" y="7847741"/>
            <a:chExt cx="3072395" cy="107021"/>
          </a:xfrm>
        </p:grpSpPr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84441" y="7847741"/>
              <a:ext cx="3072395" cy="107021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825450" y="7417629"/>
            <a:ext cx="529582" cy="107021"/>
            <a:chOff x="1825450" y="7417629"/>
            <a:chExt cx="529582" cy="107021"/>
          </a:xfrm>
        </p:grpSpPr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5400000">
              <a:off x="1825450" y="7417629"/>
              <a:ext cx="529582" cy="107021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397841" y="7687698"/>
            <a:ext cx="1328571" cy="400794"/>
            <a:chOff x="1397841" y="7687698"/>
            <a:chExt cx="1328571" cy="400794"/>
          </a:xfrm>
        </p:grpSpPr>
        <p:pic>
          <p:nvPicPr>
            <p:cNvPr id="62" name="Object 6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7841" y="7687698"/>
              <a:ext cx="1328571" cy="400794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2718891" y="7888095"/>
            <a:ext cx="537378" cy="14286"/>
            <a:chOff x="2718891" y="7888095"/>
            <a:chExt cx="537378" cy="14286"/>
          </a:xfrm>
        </p:grpSpPr>
        <p:pic>
          <p:nvPicPr>
            <p:cNvPr id="65" name="Object 64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18891" y="7888095"/>
              <a:ext cx="537378" cy="14286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5276382" y="3002161"/>
            <a:ext cx="549267" cy="549143"/>
            <a:chOff x="5276382" y="3002161"/>
            <a:chExt cx="549267" cy="549143"/>
          </a:xfrm>
        </p:grpSpPr>
        <p:pic>
          <p:nvPicPr>
            <p:cNvPr id="68" name="Object 67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76382" y="3002161"/>
              <a:ext cx="549267" cy="549143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7198630" y="3028061"/>
            <a:ext cx="516411" cy="516392"/>
            <a:chOff x="7198630" y="3028061"/>
            <a:chExt cx="516411" cy="516392"/>
          </a:xfrm>
        </p:grpSpPr>
        <p:pic>
          <p:nvPicPr>
            <p:cNvPr id="71" name="Object 70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98630" y="3028061"/>
              <a:ext cx="516411" cy="516392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7191237" y="4738879"/>
            <a:ext cx="537546" cy="537586"/>
            <a:chOff x="7191237" y="4738879"/>
            <a:chExt cx="537546" cy="537586"/>
          </a:xfrm>
        </p:grpSpPr>
        <p:pic>
          <p:nvPicPr>
            <p:cNvPr id="74" name="Object 73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91237" y="4738879"/>
              <a:ext cx="537546" cy="537586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5273815" y="6167127"/>
            <a:ext cx="568931" cy="568920"/>
            <a:chOff x="5273815" y="6167127"/>
            <a:chExt cx="568931" cy="568920"/>
          </a:xfrm>
        </p:grpSpPr>
        <p:pic>
          <p:nvPicPr>
            <p:cNvPr id="77" name="Object 76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73815" y="6167127"/>
              <a:ext cx="568931" cy="568920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3576449" y="7616083"/>
            <a:ext cx="563947" cy="524977"/>
            <a:chOff x="3576449" y="7616083"/>
            <a:chExt cx="563947" cy="524977"/>
          </a:xfrm>
        </p:grpSpPr>
        <p:pic>
          <p:nvPicPr>
            <p:cNvPr id="80" name="Object 79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76449" y="7616083"/>
              <a:ext cx="563947" cy="524977"/>
            </a:xfrm>
            <a:prstGeom prst="rect">
              <a:avLst/>
            </a:prstGeom>
          </p:spPr>
        </p:pic>
      </p:grpSp>
      <p:grpSp>
        <p:nvGrpSpPr>
          <p:cNvPr id="1026" name="그룹 1026"/>
          <p:cNvGrpSpPr/>
          <p:nvPr/>
        </p:nvGrpSpPr>
        <p:grpSpPr>
          <a:xfrm>
            <a:off x="1778793" y="6328224"/>
            <a:ext cx="602824" cy="678472"/>
            <a:chOff x="1778793" y="6328224"/>
            <a:chExt cx="602824" cy="678472"/>
          </a:xfrm>
        </p:grpSpPr>
        <p:pic>
          <p:nvPicPr>
            <p:cNvPr id="83" name="Object 82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78793" y="6328224"/>
              <a:ext cx="602824" cy="678472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3138606" y="4592472"/>
            <a:ext cx="1439635" cy="3344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Pretendard Medium" pitchFamily="34" charset="0"/>
                <a:cs typeface="Pretendard Medium" pitchFamily="34" charset="0"/>
              </a:rPr>
              <a:t>SYSTEM</a:t>
            </a:r>
            <a:endParaRPr lang="en-US" dirty="0"/>
          </a:p>
        </p:txBody>
      </p:sp>
      <p:sp>
        <p:nvSpPr>
          <p:cNvPr id="86" name="Object 86"/>
          <p:cNvSpPr txBox="1"/>
          <p:nvPr/>
        </p:nvSpPr>
        <p:spPr>
          <a:xfrm>
            <a:off x="6399592" y="6334264"/>
            <a:ext cx="2152584" cy="3108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Pretendard Medium" pitchFamily="34" charset="0"/>
                <a:cs typeface="Pretendard Medium" pitchFamily="34" charset="0"/>
              </a:rPr>
              <a:t>DEVELOPMENT</a:t>
            </a:r>
            <a:endParaRPr lang="en-US" dirty="0"/>
          </a:p>
        </p:txBody>
      </p:sp>
      <p:sp>
        <p:nvSpPr>
          <p:cNvPr id="87" name="Object 87"/>
          <p:cNvSpPr txBox="1"/>
          <p:nvPr/>
        </p:nvSpPr>
        <p:spPr>
          <a:xfrm>
            <a:off x="1222569" y="7702204"/>
            <a:ext cx="1704512" cy="3504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300" dirty="0">
                <a:solidFill>
                  <a:srgbClr val="000000"/>
                </a:solidFill>
                <a:latin typeface="Pretendard Medium" pitchFamily="34" charset="0"/>
                <a:cs typeface="Pretendard Medium" pitchFamily="34" charset="0"/>
              </a:rPr>
              <a:t>PROPOSAL</a:t>
            </a:r>
            <a:endParaRPr lang="en-US" dirty="0"/>
          </a:p>
        </p:txBody>
      </p:sp>
      <p:grpSp>
        <p:nvGrpSpPr>
          <p:cNvPr id="1027" name="그룹 1027"/>
          <p:cNvGrpSpPr/>
          <p:nvPr/>
        </p:nvGrpSpPr>
        <p:grpSpPr>
          <a:xfrm>
            <a:off x="1282531" y="989487"/>
            <a:ext cx="15720651" cy="251447"/>
            <a:chOff x="1282531" y="989487"/>
            <a:chExt cx="15720651" cy="251447"/>
          </a:xfrm>
        </p:grpSpPr>
        <p:pic>
          <p:nvPicPr>
            <p:cNvPr id="89" name="Object 88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82531" y="989487"/>
              <a:ext cx="15720651" cy="251447"/>
            </a:xfrm>
            <a:prstGeom prst="rect">
              <a:avLst/>
            </a:prstGeom>
          </p:spPr>
        </p:pic>
      </p:grpSp>
      <p:grpSp>
        <p:nvGrpSpPr>
          <p:cNvPr id="1028" name="그룹 1028"/>
          <p:cNvGrpSpPr/>
          <p:nvPr/>
        </p:nvGrpSpPr>
        <p:grpSpPr>
          <a:xfrm>
            <a:off x="1314286" y="9535714"/>
            <a:ext cx="15727236" cy="14286"/>
            <a:chOff x="1314286" y="9535714"/>
            <a:chExt cx="15727236" cy="14286"/>
          </a:xfrm>
        </p:grpSpPr>
        <p:pic>
          <p:nvPicPr>
            <p:cNvPr id="92" name="Object 91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14286" y="9535714"/>
              <a:ext cx="15727236" cy="14286"/>
            </a:xfrm>
            <a:prstGeom prst="rect">
              <a:avLst/>
            </a:prstGeom>
          </p:spPr>
        </p:pic>
      </p:grpSp>
      <p:grpSp>
        <p:nvGrpSpPr>
          <p:cNvPr id="1029" name="그룹 1029"/>
          <p:cNvGrpSpPr/>
          <p:nvPr/>
        </p:nvGrpSpPr>
        <p:grpSpPr>
          <a:xfrm>
            <a:off x="14789794" y="791403"/>
            <a:ext cx="1852248" cy="369332"/>
            <a:chOff x="14789794" y="791403"/>
            <a:chExt cx="1852248" cy="369332"/>
          </a:xfrm>
        </p:grpSpPr>
        <p:grpSp>
          <p:nvGrpSpPr>
            <p:cNvPr id="1030" name="그룹 1030"/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96" name="Object 95"/>
              <p:cNvPicPr>
                <a:picLocks noChangeAspect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98" name="Object 98"/>
            <p:cNvSpPr txBox="1"/>
            <p:nvPr/>
          </p:nvSpPr>
          <p:spPr>
            <a:xfrm>
              <a:off x="14789794" y="791403"/>
              <a:ext cx="18522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" name="그룹 1001">
            <a:extLst>
              <a:ext uri="{FF2B5EF4-FFF2-40B4-BE49-F238E27FC236}">
                <a16:creationId xmlns:a16="http://schemas.microsoft.com/office/drawing/2014/main" id="{B388490C-3979-2615-FD0A-1F4CFA7ACE81}"/>
              </a:ext>
            </a:extLst>
          </p:cNvPr>
          <p:cNvGrpSpPr/>
          <p:nvPr/>
        </p:nvGrpSpPr>
        <p:grpSpPr>
          <a:xfrm>
            <a:off x="14789794" y="791403"/>
            <a:ext cx="1852248" cy="369332"/>
            <a:chOff x="14789794" y="791403"/>
            <a:chExt cx="1852248" cy="369332"/>
          </a:xfrm>
        </p:grpSpPr>
        <p:grpSp>
          <p:nvGrpSpPr>
            <p:cNvPr id="5" name="그룹 1002">
              <a:extLst>
                <a:ext uri="{FF2B5EF4-FFF2-40B4-BE49-F238E27FC236}">
                  <a16:creationId xmlns:a16="http://schemas.microsoft.com/office/drawing/2014/main" id="{0CE67B27-C20E-9163-AAF4-57BC47603A79}"/>
                </a:ext>
              </a:extLst>
            </p:cNvPr>
            <p:cNvGrpSpPr/>
            <p:nvPr/>
          </p:nvGrpSpPr>
          <p:grpSpPr>
            <a:xfrm>
              <a:off x="14814831" y="879572"/>
              <a:ext cx="265265" cy="167506"/>
              <a:chOff x="14814831" y="879572"/>
              <a:chExt cx="265265" cy="167506"/>
            </a:xfrm>
          </p:grpSpPr>
          <p:pic>
            <p:nvPicPr>
              <p:cNvPr id="13" name="Object 3">
                <a:extLst>
                  <a:ext uri="{FF2B5EF4-FFF2-40B4-BE49-F238E27FC236}">
                    <a16:creationId xmlns:a16="http://schemas.microsoft.com/office/drawing/2014/main" id="{285C3A2A-9AAD-5E6C-1F17-CEA6AE46BB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14814831" y="879572"/>
                <a:ext cx="265265" cy="167506"/>
              </a:xfrm>
              <a:prstGeom prst="rect">
                <a:avLst/>
              </a:prstGeom>
            </p:spPr>
          </p:pic>
        </p:grp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CD8D4C58-DBBC-9510-71D4-F843C563B82A}"/>
                </a:ext>
              </a:extLst>
            </p:cNvPr>
            <p:cNvSpPr txBox="1"/>
            <p:nvPr/>
          </p:nvSpPr>
          <p:spPr>
            <a:xfrm>
              <a:off x="14789794" y="791403"/>
              <a:ext cx="185224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bject 97">
            <a:extLst>
              <a:ext uri="{FF2B5EF4-FFF2-40B4-BE49-F238E27FC236}">
                <a16:creationId xmlns:a16="http://schemas.microsoft.com/office/drawing/2014/main" id="{47CF44F7-7096-EE57-7B32-989BF805C6E5}"/>
              </a:ext>
            </a:extLst>
          </p:cNvPr>
          <p:cNvSpPr txBox="1"/>
          <p:nvPr/>
        </p:nvSpPr>
        <p:spPr>
          <a:xfrm>
            <a:off x="14906414" y="832520"/>
            <a:ext cx="185224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solidFill>
                  <a:srgbClr val="000000"/>
                </a:solidFill>
                <a:latin typeface="Pretendard Medium" pitchFamily="34" charset="0"/>
              </a:rPr>
              <a:t>  Network Programming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</TotalTime>
  <Words>630</Words>
  <Application>Microsoft Office PowerPoint</Application>
  <PresentationFormat>사용자 지정</PresentationFormat>
  <Paragraphs>148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Pretendard</vt:lpstr>
      <vt:lpstr>Pretendard Light</vt:lpstr>
      <vt:lpstr>Pretendard 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rosemaridy@naver.com</cp:lastModifiedBy>
  <cp:revision>5</cp:revision>
  <dcterms:created xsi:type="dcterms:W3CDTF">2024-03-25T18:17:12Z</dcterms:created>
  <dcterms:modified xsi:type="dcterms:W3CDTF">2024-03-26T10:03:52Z</dcterms:modified>
</cp:coreProperties>
</file>