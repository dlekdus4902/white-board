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0" r:id="rId4"/>
  </p:sldMasterIdLst>
  <p:notesMasterIdLst>
    <p:notesMasterId r:id="rId10"/>
  </p:notesMasterIdLst>
  <p:handoutMasterIdLst>
    <p:handoutMasterId r:id="rId11"/>
  </p:handoutMasterIdLst>
  <p:sldIdLst>
    <p:sldId id="266" r:id="rId5"/>
    <p:sldId id="257" r:id="rId6"/>
    <p:sldId id="267" r:id="rId7"/>
    <p:sldId id="269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F2B0BB"/>
    <a:srgbClr val="F4C4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76" d="100"/>
          <a:sy n="76" d="100"/>
        </p:scale>
        <p:origin x="2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0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A78010E-FBB5-4F8D-9C68-F62691F1106C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2024-03-25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4C531EA-3B14-40B9-94EF-FFD37E10845B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190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5947BE2-B36E-4EF1-8905-BBAE66DB1CAF}" type="datetime1">
              <a:rPr lang="ko-KR" altLang="en-US" smtClean="0"/>
              <a:pPr/>
              <a:t>2024-03-25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733D7A2-C585-48BF-BF8C-C21FDC051F7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733D7A2-C585-48BF-BF8C-C21FDC051F77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3332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733D7A2-C585-48BF-BF8C-C21FDC051F77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9245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733D7A2-C585-48BF-BF8C-C21FDC051F77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825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670560" y="1984248"/>
            <a:ext cx="10948416" cy="2953512"/>
          </a:xfrm>
          <a:prstGeom prst="roundRect">
            <a:avLst>
              <a:gd name="adj" fmla="val 5521"/>
            </a:avLst>
          </a:prstGeom>
          <a:gradFill>
            <a:gsLst>
              <a:gs pos="0">
                <a:schemeClr val="bg1">
                  <a:alpha val="79000"/>
                </a:schemeClr>
              </a:gs>
              <a:gs pos="30000">
                <a:schemeClr val="bg2"/>
              </a:gs>
              <a:gs pos="66000">
                <a:schemeClr val="bg2"/>
              </a:gs>
              <a:gs pos="100000">
                <a:schemeClr val="bg1">
                  <a:alpha val="61000"/>
                </a:schemeClr>
              </a:gs>
            </a:gsLst>
            <a:lin ang="5400000" scaled="1"/>
          </a:gradFill>
          <a:ln w="38100">
            <a:solidFill>
              <a:schemeClr val="bg2">
                <a:lumMod val="20000"/>
                <a:lumOff val="8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950976" y="2432304"/>
            <a:ext cx="10363200" cy="1353312"/>
          </a:xfrm>
        </p:spPr>
        <p:txBody>
          <a:bodyPr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>
              <a:defRPr sz="480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804416" y="3785616"/>
            <a:ext cx="8534400" cy="7589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B606-6265-409D-885A-4C41663D37EE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ounded Rectangle 9"/>
          <p:cNvSpPr/>
          <p:nvPr/>
        </p:nvSpPr>
        <p:spPr bwMode="gray">
          <a:xfrm>
            <a:off x="1146048" y="1719072"/>
            <a:ext cx="9997440" cy="429768"/>
          </a:xfrm>
          <a:prstGeom prst="roundRect">
            <a:avLst>
              <a:gd name="adj" fmla="val 23050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67000">
                <a:schemeClr val="bg2">
                  <a:lumMod val="60000"/>
                  <a:lumOff val="40000"/>
                </a:schemeClr>
              </a:gs>
              <a:gs pos="98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ounded Rectangle 10"/>
          <p:cNvSpPr/>
          <p:nvPr/>
        </p:nvSpPr>
        <p:spPr bwMode="gray">
          <a:xfrm>
            <a:off x="1146048" y="4718304"/>
            <a:ext cx="9997440" cy="429768"/>
          </a:xfrm>
          <a:prstGeom prst="roundRect">
            <a:avLst>
              <a:gd name="adj" fmla="val 25178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78000">
                <a:schemeClr val="bg2">
                  <a:lumMod val="60000"/>
                  <a:lumOff val="40000"/>
                </a:schemeClr>
              </a:gs>
              <a:gs pos="75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ounded Rectangle 11"/>
          <p:cNvSpPr/>
          <p:nvPr/>
        </p:nvSpPr>
        <p:spPr bwMode="gray">
          <a:xfrm>
            <a:off x="7522464" y="1801368"/>
            <a:ext cx="3328416" cy="265176"/>
          </a:xfrm>
          <a:prstGeom prst="roundRect">
            <a:avLst>
              <a:gd name="adj" fmla="val 21911"/>
            </a:avLst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/>
          <p:cNvGrpSpPr/>
          <p:nvPr/>
        </p:nvGrpSpPr>
        <p:grpSpPr bwMode="ltGray">
          <a:xfrm>
            <a:off x="7644384" y="1892808"/>
            <a:ext cx="1133856" cy="73152"/>
            <a:chOff x="5733288" y="1874520"/>
            <a:chExt cx="850392" cy="73152"/>
          </a:xfrm>
          <a:effectLst>
            <a:glow rad="63500">
              <a:schemeClr val="tx1">
                <a:alpha val="40000"/>
              </a:schemeClr>
            </a:glow>
            <a:outerShdw blurRad="50800" dist="50800" dir="5400000" algn="ctr" rotWithShape="0">
              <a:schemeClr val="accent1">
                <a:lumMod val="20000"/>
                <a:lumOff val="80000"/>
                <a:alpha val="21000"/>
              </a:schemeClr>
            </a:outerShdw>
          </a:effectLst>
        </p:grpSpPr>
        <p:sp>
          <p:nvSpPr>
            <p:cNvPr id="13" name="Oval 12"/>
            <p:cNvSpPr/>
            <p:nvPr userDrawn="1"/>
          </p:nvSpPr>
          <p:spPr bwMode="ltGray">
            <a:xfrm>
              <a:off x="573328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ltGray">
            <a:xfrm>
              <a:off x="5925312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 userDrawn="1"/>
          </p:nvSpPr>
          <p:spPr bwMode="ltGray">
            <a:xfrm>
              <a:off x="6117336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ltGray">
            <a:xfrm>
              <a:off x="6309360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ltGray">
            <a:xfrm>
              <a:off x="651052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8738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57200"/>
            <a:ext cx="10863072" cy="950976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1572768"/>
            <a:ext cx="10826496" cy="482803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2984-DAED-4565-BCF0-D6AF9627EA52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10" name="Group 9"/>
          <p:cNvGrpSpPr/>
          <p:nvPr/>
        </p:nvGrpSpPr>
        <p:grpSpPr bwMode="gray">
          <a:xfrm>
            <a:off x="731520" y="164592"/>
            <a:ext cx="377952" cy="283464"/>
            <a:chOff x="548640" y="173736"/>
            <a:chExt cx="283464" cy="283464"/>
          </a:xfrm>
        </p:grpSpPr>
        <p:sp>
          <p:nvSpPr>
            <p:cNvPr id="9" name="Oval 8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Oval 7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/>
        </p:nvGrpSpPr>
        <p:grpSpPr bwMode="gray">
          <a:xfrm>
            <a:off x="1219200" y="164592"/>
            <a:ext cx="377952" cy="283464"/>
            <a:chOff x="548640" y="173736"/>
            <a:chExt cx="283464" cy="283464"/>
          </a:xfrm>
        </p:grpSpPr>
        <p:sp>
          <p:nvSpPr>
            <p:cNvPr id="12" name="Oval 11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/>
        </p:nvGrpSpPr>
        <p:grpSpPr bwMode="gray">
          <a:xfrm>
            <a:off x="1719072" y="164592"/>
            <a:ext cx="377952" cy="283464"/>
            <a:chOff x="548640" y="173736"/>
            <a:chExt cx="283464" cy="283464"/>
          </a:xfrm>
        </p:grpSpPr>
        <p:sp>
          <p:nvSpPr>
            <p:cNvPr id="15" name="Oval 14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9661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670560" y="3712464"/>
            <a:ext cx="10863072" cy="2139696"/>
          </a:xfrm>
          <a:prstGeom prst="roundRect">
            <a:avLst>
              <a:gd name="adj" fmla="val 9795"/>
            </a:avLst>
          </a:prstGeom>
          <a:gradFill>
            <a:gsLst>
              <a:gs pos="0">
                <a:schemeClr val="bg1">
                  <a:alpha val="79000"/>
                </a:schemeClr>
              </a:gs>
              <a:gs pos="30000">
                <a:schemeClr val="bg2"/>
              </a:gs>
              <a:gs pos="66000">
                <a:schemeClr val="bg2"/>
              </a:gs>
              <a:gs pos="100000">
                <a:schemeClr val="bg1">
                  <a:alpha val="61000"/>
                </a:schemeClr>
              </a:gs>
            </a:gsLst>
            <a:lin ang="5400000" scaled="1"/>
          </a:gradFill>
          <a:ln w="38100">
            <a:solidFill>
              <a:schemeClr val="bg2">
                <a:lumMod val="20000"/>
                <a:lumOff val="8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ounded Rectangle 8"/>
          <p:cNvSpPr/>
          <p:nvPr/>
        </p:nvSpPr>
        <p:spPr bwMode="gray">
          <a:xfrm>
            <a:off x="1146048" y="5641848"/>
            <a:ext cx="9997440" cy="429768"/>
          </a:xfrm>
          <a:prstGeom prst="roundRect">
            <a:avLst>
              <a:gd name="adj" fmla="val 25178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78000">
                <a:schemeClr val="bg2">
                  <a:lumMod val="60000"/>
                  <a:lumOff val="40000"/>
                </a:schemeClr>
              </a:gs>
              <a:gs pos="75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853440" y="3931920"/>
            <a:ext cx="10387584" cy="1719072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048" y="2642616"/>
            <a:ext cx="9997440" cy="740664"/>
          </a:xfrm>
        </p:spPr>
        <p:txBody>
          <a:bodyPr anchor="b"/>
          <a:lstStyle>
            <a:lvl1pPr marL="0" indent="0">
              <a:buNone/>
              <a:defRPr sz="20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1B2E0-83C0-45AF-AB65-95027F060D28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ounded Rectangle 7"/>
          <p:cNvSpPr/>
          <p:nvPr/>
        </p:nvSpPr>
        <p:spPr bwMode="gray">
          <a:xfrm>
            <a:off x="1146048" y="3502152"/>
            <a:ext cx="9997440" cy="429768"/>
          </a:xfrm>
          <a:prstGeom prst="roundRect">
            <a:avLst>
              <a:gd name="adj" fmla="val 23050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67000">
                <a:schemeClr val="bg2">
                  <a:lumMod val="60000"/>
                  <a:lumOff val="40000"/>
                </a:schemeClr>
              </a:gs>
              <a:gs pos="98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ounded Rectangle 9"/>
          <p:cNvSpPr/>
          <p:nvPr/>
        </p:nvSpPr>
        <p:spPr bwMode="gray">
          <a:xfrm>
            <a:off x="7522464" y="3584448"/>
            <a:ext cx="3328416" cy="265176"/>
          </a:xfrm>
          <a:prstGeom prst="roundRect">
            <a:avLst>
              <a:gd name="adj" fmla="val 21911"/>
            </a:avLst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1" name="Group 10"/>
          <p:cNvGrpSpPr/>
          <p:nvPr/>
        </p:nvGrpSpPr>
        <p:grpSpPr bwMode="ltGray">
          <a:xfrm>
            <a:off x="7644384" y="3675888"/>
            <a:ext cx="1133856" cy="73152"/>
            <a:chOff x="5733288" y="1874520"/>
            <a:chExt cx="850392" cy="73152"/>
          </a:xfrm>
          <a:effectLst>
            <a:glow rad="63500">
              <a:schemeClr val="tx1">
                <a:alpha val="40000"/>
              </a:schemeClr>
            </a:glow>
            <a:outerShdw blurRad="50800" dist="50800" dir="5400000" algn="ctr" rotWithShape="0">
              <a:schemeClr val="accent1">
                <a:lumMod val="20000"/>
                <a:lumOff val="80000"/>
                <a:alpha val="21000"/>
              </a:schemeClr>
            </a:outerShdw>
          </a:effectLst>
        </p:grpSpPr>
        <p:sp>
          <p:nvSpPr>
            <p:cNvPr id="12" name="Oval 11"/>
            <p:cNvSpPr/>
            <p:nvPr userDrawn="1"/>
          </p:nvSpPr>
          <p:spPr bwMode="ltGray">
            <a:xfrm>
              <a:off x="573328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ltGray">
            <a:xfrm>
              <a:off x="5925312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ltGray">
            <a:xfrm>
              <a:off x="6117336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 userDrawn="1"/>
          </p:nvSpPr>
          <p:spPr bwMode="ltGray">
            <a:xfrm>
              <a:off x="6309360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ltGray">
            <a:xfrm>
              <a:off x="651052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01030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1216152"/>
            <a:ext cx="11436096" cy="5294376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/>
          <p:nvPr/>
        </p:nvGrpSpPr>
        <p:grpSpPr bwMode="gray">
          <a:xfrm>
            <a:off x="926592" y="1078992"/>
            <a:ext cx="377952" cy="283464"/>
            <a:chOff x="548640" y="173736"/>
            <a:chExt cx="283464" cy="283464"/>
          </a:xfrm>
        </p:grpSpPr>
        <p:sp>
          <p:nvSpPr>
            <p:cNvPr id="10" name="Oval 9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Oval 10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2" name="Group 11"/>
          <p:cNvGrpSpPr/>
          <p:nvPr/>
        </p:nvGrpSpPr>
        <p:grpSpPr bwMode="gray">
          <a:xfrm>
            <a:off x="1402080" y="1078992"/>
            <a:ext cx="377952" cy="283464"/>
            <a:chOff x="548640" y="173736"/>
            <a:chExt cx="283464" cy="283464"/>
          </a:xfrm>
        </p:grpSpPr>
        <p:sp>
          <p:nvSpPr>
            <p:cNvPr id="13" name="Oval 12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5" name="Group 14"/>
          <p:cNvGrpSpPr/>
          <p:nvPr/>
        </p:nvGrpSpPr>
        <p:grpSpPr bwMode="gray">
          <a:xfrm>
            <a:off x="1901952" y="1078992"/>
            <a:ext cx="377952" cy="283464"/>
            <a:chOff x="548640" y="173736"/>
            <a:chExt cx="283464" cy="283464"/>
          </a:xfrm>
        </p:grpSpPr>
        <p:sp>
          <p:nvSpPr>
            <p:cNvPr id="16" name="Oval 15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09600" y="146304"/>
            <a:ext cx="10972800" cy="1069848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554480"/>
            <a:ext cx="5291328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6960" y="1554480"/>
            <a:ext cx="5291328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60E2-A662-498F-B7D2-945FB53C2B54}" type="datetime1">
              <a:rPr lang="ko-KR" altLang="en-US" smtClean="0"/>
              <a:pPr/>
              <a:t>2024-03-25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34720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 bwMode="gray">
          <a:xfrm>
            <a:off x="6193536" y="1371600"/>
            <a:ext cx="5620512" cy="5148072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ounded Rectangle 9"/>
          <p:cNvSpPr/>
          <p:nvPr/>
        </p:nvSpPr>
        <p:spPr bwMode="gray">
          <a:xfrm>
            <a:off x="377952" y="1371600"/>
            <a:ext cx="5620512" cy="5148072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09600" y="146304"/>
            <a:ext cx="10972800" cy="1143000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573024" y="1527048"/>
            <a:ext cx="5242560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024" y="2322576"/>
            <a:ext cx="5242560" cy="40050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376416" y="1527048"/>
            <a:ext cx="5242560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6416" y="2322576"/>
            <a:ext cx="5242560" cy="40050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29B5-8DCA-4D67-8D0B-8599C9B12F01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18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1377-AA0B-4C2C-9A8D-46B1500F918B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809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60E2-A662-498F-B7D2-945FB53C2B54}" type="datetime1">
              <a:rPr lang="ko-KR" altLang="en-US" smtClean="0"/>
              <a:pPr/>
              <a:t>2024-03-25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449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75488" y="429768"/>
            <a:ext cx="4157472" cy="10058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072" y="429768"/>
            <a:ext cx="6912864" cy="58613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5488" y="1435608"/>
            <a:ext cx="4157472" cy="48554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533B-C8AF-4127-B48C-C61608A46D52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500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/>
          <p:nvPr/>
        </p:nvGrpSpPr>
        <p:grpSpPr bwMode="gray">
          <a:xfrm>
            <a:off x="731520" y="164592"/>
            <a:ext cx="377952" cy="283464"/>
            <a:chOff x="548640" y="173736"/>
            <a:chExt cx="283464" cy="283464"/>
          </a:xfrm>
        </p:grpSpPr>
        <p:sp>
          <p:nvSpPr>
            <p:cNvPr id="10" name="Oval 9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Oval 10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2" name="Group 11"/>
          <p:cNvGrpSpPr/>
          <p:nvPr/>
        </p:nvGrpSpPr>
        <p:grpSpPr bwMode="gray">
          <a:xfrm>
            <a:off x="1219200" y="164592"/>
            <a:ext cx="377952" cy="283464"/>
            <a:chOff x="548640" y="173736"/>
            <a:chExt cx="283464" cy="283464"/>
          </a:xfrm>
        </p:grpSpPr>
        <p:sp>
          <p:nvSpPr>
            <p:cNvPr id="13" name="Oval 12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5" name="Group 14"/>
          <p:cNvGrpSpPr/>
          <p:nvPr/>
        </p:nvGrpSpPr>
        <p:grpSpPr bwMode="gray">
          <a:xfrm>
            <a:off x="1719072" y="164592"/>
            <a:ext cx="377952" cy="283464"/>
            <a:chOff x="548640" y="173736"/>
            <a:chExt cx="283464" cy="283464"/>
          </a:xfrm>
        </p:grpSpPr>
        <p:sp>
          <p:nvSpPr>
            <p:cNvPr id="16" name="Oval 15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707136" y="3273552"/>
            <a:ext cx="3523488" cy="13716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4267200" y="612775"/>
            <a:ext cx="7205472" cy="4114800"/>
          </a:xfrm>
          <a:prstGeom prst="roundRect">
            <a:avLst>
              <a:gd name="adj" fmla="val 5778"/>
            </a:avLst>
          </a:prstGeom>
          <a:ln w="38100">
            <a:solidFill>
              <a:srgbClr val="FFFFFF">
                <a:alpha val="80000"/>
              </a:srgbClr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4464" y="4800600"/>
            <a:ext cx="6803136" cy="13716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9BFEB-10E1-4C82-8B0C-4127B442684C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061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89CA1-38B4-46D8-8A1A-D0598B4AB40E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6490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377952" y="356616"/>
            <a:ext cx="9339072" cy="608990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7"/>
          <p:cNvGrpSpPr/>
          <p:nvPr/>
        </p:nvGrpSpPr>
        <p:grpSpPr bwMode="gray">
          <a:xfrm>
            <a:off x="731520" y="219456"/>
            <a:ext cx="377952" cy="283464"/>
            <a:chOff x="548640" y="173736"/>
            <a:chExt cx="283464" cy="283464"/>
          </a:xfrm>
        </p:grpSpPr>
        <p:sp>
          <p:nvSpPr>
            <p:cNvPr id="9" name="Oval 8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Oval 9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/>
        </p:nvGrpSpPr>
        <p:grpSpPr bwMode="gray">
          <a:xfrm>
            <a:off x="1219200" y="219456"/>
            <a:ext cx="377952" cy="283464"/>
            <a:chOff x="548640" y="173736"/>
            <a:chExt cx="283464" cy="283464"/>
          </a:xfrm>
        </p:grpSpPr>
        <p:sp>
          <p:nvSpPr>
            <p:cNvPr id="12" name="Oval 11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/>
        </p:nvGrpSpPr>
        <p:grpSpPr bwMode="gray">
          <a:xfrm>
            <a:off x="1719072" y="219456"/>
            <a:ext cx="377952" cy="283464"/>
            <a:chOff x="548640" y="173736"/>
            <a:chExt cx="283464" cy="283464"/>
          </a:xfrm>
        </p:grpSpPr>
        <p:sp>
          <p:nvSpPr>
            <p:cNvPr id="15" name="Oval 14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814560" y="365760"/>
            <a:ext cx="1901952" cy="6062472"/>
          </a:xfrm>
        </p:spPr>
        <p:txBody>
          <a:bodyPr vert="eaVert">
            <a:scene3d>
              <a:camera prst="orthographicFront"/>
              <a:lightRig rig="flat" dir="t"/>
            </a:scene3d>
            <a:sp3d extrusionH="3175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>
              <a:defRPr>
                <a:gradFill flip="none" rotWithShape="1"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576072"/>
            <a:ext cx="8497824" cy="564184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37250-428B-46FB-A35D-BE1A1A308D91}" type="datetime1">
              <a:rPr lang="ko-KR" altLang="en-US" smtClean="0"/>
              <a:pPr/>
              <a:t>2024-03-25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9E57DC2-970A-4B3E-BB1C-7A09969E49D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562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3">
              <a:alphaModFix amt="27000"/>
            </a:blip>
            <a:srcRect/>
            <a:tile tx="0" ty="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609600" y="6556248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C60E2-A662-498F-B7D2-945FB53C2B54}" type="datetime1">
              <a:rPr lang="ko-KR" altLang="en-US" smtClean="0"/>
              <a:pPr/>
              <a:t>2024-03-25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7754112" y="6556248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669536" y="6556248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667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꺾은선형 차트 그래픽 클로즈업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 rtlCol="0">
            <a:normAutofit/>
          </a:bodyPr>
          <a:lstStyle/>
          <a:p>
            <a:pPr algn="l"/>
            <a:r>
              <a:rPr lang="ko-KR" altLang="en-US" sz="40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프로그래밍</a:t>
            </a:r>
            <a:endParaRPr lang="ko" sz="400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201392"/>
            <a:ext cx="5268177" cy="749720"/>
          </a:xfrm>
        </p:spPr>
        <p:txBody>
          <a:bodyPr rtlCol="0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202214319 </a:t>
            </a:r>
            <a:r>
              <a:rPr lang="ko-KR" altLang="en-US" sz="2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한지민</a:t>
            </a:r>
            <a:endParaRPr lang="en-US" sz="240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B32D4D-8E9A-2C1F-0BEA-441D1803B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목표수립</a:t>
            </a:r>
            <a:r>
              <a:rPr lang="en-US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 </a:t>
            </a:r>
            <a:r>
              <a:rPr lang="ko-KR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공유되는 자원에 동시 접근하는 상황에 대해 </a:t>
            </a:r>
            <a:r>
              <a:rPr lang="ko-KR" altLang="ko-KR" sz="24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멀티스레드를</a:t>
            </a:r>
            <a:r>
              <a:rPr lang="ko-KR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이용하여 충돌문제에 대해 대처</a:t>
            </a:r>
            <a:r>
              <a:rPr lang="ko-KR" altLang="en-US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할 것이</a:t>
            </a:r>
            <a:r>
              <a:rPr lang="ko-KR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</a:t>
            </a:r>
            <a:r>
              <a:rPr lang="en-US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ko-KR" altLang="en-US" sz="2400" dirty="0"/>
              <a:t>주제선정</a:t>
            </a:r>
            <a:endParaRPr lang="en-US" altLang="ko-KR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ko-KR" altLang="en-US" sz="2400" dirty="0"/>
              <a:t>사내 메신저</a:t>
            </a:r>
            <a:r>
              <a:rPr lang="en-US" altLang="ko-KR" sz="2400" dirty="0"/>
              <a:t>(</a:t>
            </a:r>
            <a:r>
              <a:rPr lang="ko-KR" altLang="en-US" sz="2400" dirty="0"/>
              <a:t>과제공유용</a:t>
            </a:r>
            <a:r>
              <a:rPr lang="en-US" altLang="ko-KR" sz="2400" dirty="0"/>
              <a:t>):  </a:t>
            </a:r>
            <a:r>
              <a:rPr lang="ko-KR" altLang="en-US" sz="2400" dirty="0"/>
              <a:t>조직 내부에서 직원들이 소통하고 업무를 조율하기 위해 사용되는 메시지 플랫폼을 의미한다</a:t>
            </a:r>
            <a:r>
              <a:rPr lang="en-US" altLang="ko-KR" sz="2400" dirty="0"/>
              <a:t>. </a:t>
            </a:r>
            <a:r>
              <a:rPr lang="ko-KR" altLang="en-US" sz="2400" dirty="0"/>
              <a:t>주로 조직 내에서 실시간 채팅이나 파일공유</a:t>
            </a:r>
            <a:r>
              <a:rPr lang="en-US" altLang="ko-KR" sz="2400" dirty="0"/>
              <a:t>, </a:t>
            </a:r>
            <a:r>
              <a:rPr lang="ko-KR" altLang="en-US" sz="2400" dirty="0"/>
              <a:t>업무 관련 정보 교환 등의 기능을 제공한다</a:t>
            </a:r>
            <a:r>
              <a:rPr lang="en-US" altLang="ko-KR" sz="2400" dirty="0"/>
              <a:t>. </a:t>
            </a:r>
            <a:r>
              <a:rPr lang="ko-KR" altLang="en-US" sz="2400" dirty="0"/>
              <a:t>우리가 코딩할 </a:t>
            </a:r>
            <a:r>
              <a:rPr lang="ko-KR" altLang="en-US" sz="2400" dirty="0" err="1"/>
              <a:t>사내메신저는</a:t>
            </a:r>
            <a:r>
              <a:rPr lang="en-US" altLang="ko-KR" sz="2400" dirty="0"/>
              <a:t> </a:t>
            </a:r>
            <a:r>
              <a:rPr lang="ko-KR" altLang="en-US" sz="2400" dirty="0"/>
              <a:t>주로 대학생들 과제공유를 위해 </a:t>
            </a:r>
            <a:r>
              <a:rPr lang="en-US" altLang="ko-KR" sz="2400" dirty="0"/>
              <a:t>3D</a:t>
            </a:r>
            <a:r>
              <a:rPr lang="ko-KR" altLang="en-US" sz="2400" dirty="0"/>
              <a:t>그래픽이나 동영상 </a:t>
            </a:r>
            <a:r>
              <a:rPr lang="ko-KR" altLang="en-US" sz="2400" dirty="0" err="1"/>
              <a:t>전송같은</a:t>
            </a:r>
            <a:r>
              <a:rPr lang="ko-KR" altLang="en-US" sz="2400" dirty="0"/>
              <a:t> 것을 제외한 간단한 문서나 파일 등을 공유할 수 있고 과제에 대해 피드백을 할 수 있게 메시지를 주고받을 수 있는 기능이 있다</a:t>
            </a:r>
            <a:r>
              <a:rPr lang="en-US" altLang="ko-KR" sz="2400" dirty="0"/>
              <a:t>. </a:t>
            </a:r>
            <a:r>
              <a:rPr lang="ko-KR" altLang="en-US" sz="2400" dirty="0"/>
              <a:t>또한 추천이나 좋아요 기능을 통해서 과제에 적절한 답변을 한 댓글을 뽑아 다음에 작성할 때 여러 댓글 중 제일 </a:t>
            </a:r>
            <a:r>
              <a:rPr lang="ko-KR" altLang="en-US" sz="2400" dirty="0" err="1"/>
              <a:t>상단쪽에</a:t>
            </a:r>
            <a:r>
              <a:rPr lang="ko-KR" altLang="en-US" sz="2400" dirty="0"/>
              <a:t> 위치할 수 있게 만들 것이다</a:t>
            </a:r>
            <a:r>
              <a:rPr lang="en-US" altLang="ko-KR" sz="2400" dirty="0"/>
              <a:t>. </a:t>
            </a:r>
            <a:r>
              <a:rPr lang="ko-KR" altLang="en-US" sz="2400" dirty="0" err="1"/>
              <a:t>멀티스레드를</a:t>
            </a:r>
            <a:r>
              <a:rPr lang="ko-KR" altLang="en-US" sz="2400" dirty="0"/>
              <a:t> 이용하여 여럿 클라이언트 요청을 동시에 </a:t>
            </a:r>
            <a:r>
              <a:rPr lang="ko-KR" altLang="en-US" sz="2400" dirty="0" err="1"/>
              <a:t>처리할수</a:t>
            </a:r>
            <a:r>
              <a:rPr lang="ko-KR" altLang="en-US" sz="2400" dirty="0"/>
              <a:t> 있고 실시간 상호작용이 가능하며 공유자원에 대한 동시접근을 관리할 수 있다</a:t>
            </a:r>
            <a:r>
              <a:rPr lang="en-US" altLang="ko-KR" sz="2400" dirty="0"/>
              <a:t>. </a:t>
            </a:r>
          </a:p>
          <a:p>
            <a:endParaRPr lang="ko-KR" altLang="en-US" sz="2400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E606EE7-46FD-A44D-8429-EE57B0695796}"/>
              </a:ext>
            </a:extLst>
          </p:cNvPr>
          <p:cNvSpPr/>
          <p:nvPr/>
        </p:nvSpPr>
        <p:spPr>
          <a:xfrm>
            <a:off x="2505694" y="1668482"/>
            <a:ext cx="344384" cy="23156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41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339A5-A37F-AF7B-642F-D603A37A7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682831"/>
            <a:ext cx="10826496" cy="571796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내가 생각하는 사내 메신저의 장단점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2000" dirty="0"/>
              <a:t>장점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2000" dirty="0" err="1"/>
              <a:t>이모티콘이나</a:t>
            </a:r>
            <a:r>
              <a:rPr lang="ko-KR" altLang="en-US" sz="2000" dirty="0"/>
              <a:t> 다른 특별한 기능이 없어 게임이나 소셜 네트워크 서비스에 비해 코딩하기 쉬울 것이다</a:t>
            </a:r>
            <a:r>
              <a:rPr lang="en-US" altLang="ko-KR" sz="20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2000" dirty="0"/>
              <a:t>파일공유나 채팅기능만 있기 때문에 사람들이 사용하고 이용 난이도가 쉽다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2000" dirty="0"/>
              <a:t>단점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altLang="ko-KR" sz="2000" dirty="0"/>
              <a:t> </a:t>
            </a:r>
            <a:r>
              <a:rPr lang="ko-KR" altLang="en-US" sz="2000" dirty="0"/>
              <a:t>전형적인 네트워킹 서비스이기 때문에 진부하기도 하고 특별한 기능이 없으면 이용하지 않을 확률이 높다</a:t>
            </a:r>
            <a:r>
              <a:rPr lang="en-US" altLang="ko-KR" sz="20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2000" dirty="0"/>
              <a:t>각 사람이 한번에 한번씩 채팅치는 것이 아니라 동시에 </a:t>
            </a:r>
            <a:r>
              <a:rPr lang="ko-KR" altLang="en-US" sz="2000" dirty="0" err="1"/>
              <a:t>여러명이</a:t>
            </a:r>
            <a:r>
              <a:rPr lang="ko-KR" altLang="en-US" sz="2000" dirty="0"/>
              <a:t> 채팅에 참여할 수 있어서 각 사용자들의 의견이 제대로 전달되지 않을 수 있다</a:t>
            </a:r>
            <a:r>
              <a:rPr lang="en-US" altLang="ko-KR" sz="20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2000" dirty="0"/>
              <a:t>메신저를 통해 전달된 중요정보가 실수로 삭제되거나 손실될 수 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148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꺾은선형 차트 그래픽 클로즈업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 rtlCol="0">
            <a:normAutofit/>
          </a:bodyPr>
          <a:lstStyle/>
          <a:p>
            <a:pPr algn="l"/>
            <a:r>
              <a:rPr lang="ko-KR" altLang="en-US" sz="40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프로그래밍</a:t>
            </a:r>
            <a:endParaRPr lang="ko" sz="400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201392"/>
            <a:ext cx="5268177" cy="749720"/>
          </a:xfrm>
        </p:spPr>
        <p:txBody>
          <a:bodyPr rtlCol="0">
            <a:normAutofit/>
          </a:bodyPr>
          <a:lstStyle/>
          <a:p>
            <a:pPr algn="l" rtl="0"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202214313 </a:t>
            </a:r>
            <a:r>
              <a:rPr lang="ko-KR" altLang="en-US" sz="240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이다연</a:t>
            </a:r>
            <a:endParaRPr lang="en-US" sz="240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862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0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AFBF314-3AE5-1F80-631E-BC3186E12ECC}"/>
              </a:ext>
            </a:extLst>
          </p:cNvPr>
          <p:cNvSpPr/>
          <p:nvPr/>
        </p:nvSpPr>
        <p:spPr>
          <a:xfrm>
            <a:off x="2281806" y="498557"/>
            <a:ext cx="7835318" cy="868261"/>
          </a:xfrm>
          <a:prstGeom prst="roundRect">
            <a:avLst/>
          </a:prstGeom>
          <a:solidFill>
            <a:srgbClr val="F2B0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F9C88E-FBC7-B637-3846-5ADE8CB2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4C4DC"/>
                </a:solidFill>
              </a:rPr>
              <a:t>P</a:t>
            </a:r>
            <a:r>
              <a:rPr lang="ko-KR" altLang="en-US" dirty="0">
                <a:solidFill>
                  <a:srgbClr val="F4C4DC"/>
                </a:solidFill>
              </a:rPr>
              <a:t>들을 위한 추천 여행 스케줄러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DC0B3F-DCAD-6129-BFB7-6FD769D7E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        </a:t>
            </a:r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목표 수립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5B0A927-1B07-8575-2312-3EDD0341946F}"/>
              </a:ext>
            </a:extLst>
          </p:cNvPr>
          <p:cNvSpPr/>
          <p:nvPr/>
        </p:nvSpPr>
        <p:spPr>
          <a:xfrm>
            <a:off x="670560" y="2290194"/>
            <a:ext cx="3557491" cy="3976382"/>
          </a:xfrm>
          <a:prstGeom prst="roundRect">
            <a:avLst/>
          </a:prstGeom>
          <a:ln>
            <a:solidFill>
              <a:srgbClr val="F2B0B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>
                    <a:lumMod val="65000"/>
                    <a:lumOff val="35000"/>
                  </a:schemeClr>
                </a:solidFill>
              </a:rPr>
              <a:t>여행을 가려고 할 때</a:t>
            </a:r>
            <a:r>
              <a:rPr lang="en-US" altLang="ko-KR" sz="2000" b="1" dirty="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2000" b="1" dirty="0">
                <a:solidFill>
                  <a:schemeClr val="bg1">
                    <a:lumMod val="65000"/>
                    <a:lumOff val="35000"/>
                  </a:schemeClr>
                </a:solidFill>
              </a:rPr>
              <a:t>필요한 계획들을 먼저 다녀온 누군가가 스케줄로 짜놓기</a:t>
            </a:r>
            <a:r>
              <a:rPr lang="en-US" altLang="ko-KR" sz="2000" b="1" dirty="0">
                <a:solidFill>
                  <a:schemeClr val="bg1">
                    <a:lumMod val="65000"/>
                    <a:lumOff val="35000"/>
                  </a:schemeClr>
                </a:solidFill>
              </a:rPr>
              <a:t>.</a:t>
            </a:r>
          </a:p>
          <a:p>
            <a:pPr algn="ctr"/>
            <a:r>
              <a:rPr lang="ko-KR" altLang="en-US" sz="2000" b="1" dirty="0">
                <a:solidFill>
                  <a:schemeClr val="bg1">
                    <a:lumMod val="65000"/>
                    <a:lumOff val="35000"/>
                  </a:schemeClr>
                </a:solidFill>
              </a:rPr>
              <a:t>이러한 스케줄둘을 리스트로 작성 할 수 있는 기능을 만들어 놓고 공유할 수 있게 구현하기</a:t>
            </a:r>
            <a:r>
              <a:rPr lang="en-US" altLang="ko-KR" sz="2000" b="1" dirty="0">
                <a:solidFill>
                  <a:srgbClr val="FF6699"/>
                </a:solidFill>
              </a:rPr>
              <a:t>.</a:t>
            </a:r>
            <a:endParaRPr lang="en-US" altLang="ko-KR" sz="2000" dirty="0">
              <a:solidFill>
                <a:srgbClr val="FF6699"/>
              </a:solidFill>
            </a:endParaRPr>
          </a:p>
          <a:p>
            <a:pPr algn="ctr"/>
            <a:r>
              <a:rPr lang="en-US" altLang="ko-KR" sz="2000" dirty="0">
                <a:solidFill>
                  <a:srgbClr val="FF6699"/>
                </a:solidFill>
              </a:rPr>
              <a:t> </a:t>
            </a:r>
            <a:endParaRPr lang="ko-KR" altLang="en-US" sz="2000" dirty="0">
              <a:solidFill>
                <a:srgbClr val="FF669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491A8E-874E-940B-C1F1-0C768D2FEE8A}"/>
              </a:ext>
            </a:extLst>
          </p:cNvPr>
          <p:cNvSpPr txBox="1"/>
          <p:nvPr/>
        </p:nvSpPr>
        <p:spPr>
          <a:xfrm flipH="1">
            <a:off x="6888309" y="1623123"/>
            <a:ext cx="2039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주제선정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D82BD70-91A0-7945-A3DE-0F40EBDF1E50}"/>
              </a:ext>
            </a:extLst>
          </p:cNvPr>
          <p:cNvSpPr/>
          <p:nvPr/>
        </p:nvSpPr>
        <p:spPr>
          <a:xfrm>
            <a:off x="4947128" y="2371727"/>
            <a:ext cx="6277510" cy="3894849"/>
          </a:xfrm>
          <a:prstGeom prst="roundRect">
            <a:avLst/>
          </a:prstGeom>
          <a:solidFill>
            <a:schemeClr val="tx1"/>
          </a:solidFill>
          <a:ln>
            <a:solidFill>
              <a:srgbClr val="F2B0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/>
                </a:solidFill>
              </a:rPr>
              <a:t>여행 스케줄러</a:t>
            </a:r>
            <a:endParaRPr lang="en-US" altLang="ko-KR" dirty="0">
              <a:solidFill>
                <a:schemeClr val="bg2"/>
              </a:solidFill>
            </a:endParaRPr>
          </a:p>
          <a:p>
            <a:pPr algn="ctr"/>
            <a:r>
              <a:rPr lang="ko-KR" altLang="en-US" dirty="0">
                <a:solidFill>
                  <a:schemeClr val="bg2"/>
                </a:solidFill>
              </a:rPr>
              <a:t>먼저 여행을 가본 누군가가 짰던 스케줄과 경험을 수집</a:t>
            </a:r>
            <a:r>
              <a:rPr lang="en-US" altLang="ko-KR" dirty="0">
                <a:solidFill>
                  <a:schemeClr val="bg2"/>
                </a:solidFill>
              </a:rPr>
              <a:t>.</a:t>
            </a:r>
            <a:r>
              <a:rPr lang="ko-KR" altLang="en-US" dirty="0">
                <a:solidFill>
                  <a:schemeClr val="bg2"/>
                </a:solidFill>
              </a:rPr>
              <a:t> 위의 정보를 리스트로 작성할 수 있게 해 저장 기능과 공유 기능을 구현한다</a:t>
            </a:r>
            <a:r>
              <a:rPr lang="en-US" altLang="ko-KR" dirty="0">
                <a:solidFill>
                  <a:schemeClr val="bg2"/>
                </a:solidFill>
              </a:rPr>
              <a:t>.</a:t>
            </a:r>
          </a:p>
          <a:p>
            <a:pPr algn="ctr"/>
            <a:r>
              <a:rPr lang="en-US" altLang="ko-KR" dirty="0">
                <a:solidFill>
                  <a:schemeClr val="bg2"/>
                </a:solidFill>
              </a:rPr>
              <a:t> </a:t>
            </a:r>
            <a:r>
              <a:rPr lang="ko-KR" altLang="en-US" dirty="0">
                <a:solidFill>
                  <a:schemeClr val="bg2"/>
                </a:solidFill>
              </a:rPr>
              <a:t>여행을 가고자 하는 사람이 어디로 갈지</a:t>
            </a:r>
            <a:r>
              <a:rPr lang="en-US" altLang="ko-KR" dirty="0">
                <a:solidFill>
                  <a:schemeClr val="bg2"/>
                </a:solidFill>
              </a:rPr>
              <a:t>, </a:t>
            </a:r>
            <a:r>
              <a:rPr lang="ko-KR" altLang="en-US" dirty="0">
                <a:solidFill>
                  <a:schemeClr val="bg2"/>
                </a:solidFill>
              </a:rPr>
              <a:t>몇 박 몇일로 갈지</a:t>
            </a:r>
            <a:r>
              <a:rPr lang="en-US" altLang="ko-KR" dirty="0">
                <a:solidFill>
                  <a:schemeClr val="bg2"/>
                </a:solidFill>
              </a:rPr>
              <a:t>, </a:t>
            </a:r>
            <a:r>
              <a:rPr lang="ko-KR" altLang="en-US" dirty="0">
                <a:solidFill>
                  <a:schemeClr val="bg2"/>
                </a:solidFill>
              </a:rPr>
              <a:t>예산 등을 입력할 시에 저장해둔 리스트를 참고자료로 하여 스케줄러가 나옴</a:t>
            </a:r>
            <a:r>
              <a:rPr lang="en-US" altLang="ko-KR" dirty="0">
                <a:solidFill>
                  <a:schemeClr val="bg2"/>
                </a:solidFill>
              </a:rPr>
              <a:t>.</a:t>
            </a:r>
          </a:p>
          <a:p>
            <a:pPr algn="ctr"/>
            <a:r>
              <a:rPr lang="ko-KR" altLang="en-US" dirty="0">
                <a:solidFill>
                  <a:schemeClr val="bg2"/>
                </a:solidFill>
              </a:rPr>
              <a:t>또한</a:t>
            </a:r>
            <a:r>
              <a:rPr lang="en-US" altLang="ko-KR" dirty="0">
                <a:solidFill>
                  <a:schemeClr val="bg2"/>
                </a:solidFill>
              </a:rPr>
              <a:t>, </a:t>
            </a:r>
            <a:r>
              <a:rPr lang="ko-KR" altLang="en-US" dirty="0">
                <a:solidFill>
                  <a:schemeClr val="bg2"/>
                </a:solidFill>
              </a:rPr>
              <a:t>여행을 갔다 온 사람과 갈 사람의 </a:t>
            </a:r>
            <a:r>
              <a:rPr lang="en-US" altLang="ko-KR" dirty="0">
                <a:solidFill>
                  <a:schemeClr val="bg2"/>
                </a:solidFill>
              </a:rPr>
              <a:t>1:1 </a:t>
            </a:r>
            <a:r>
              <a:rPr lang="ko-KR" altLang="en-US" dirty="0">
                <a:solidFill>
                  <a:schemeClr val="bg2"/>
                </a:solidFill>
              </a:rPr>
              <a:t>대화 기능 구현으로 직접적인 후기를 들을 수 있게 함</a:t>
            </a:r>
            <a:r>
              <a:rPr lang="en-US" altLang="ko-KR" dirty="0">
                <a:solidFill>
                  <a:schemeClr val="bg2"/>
                </a:solidFill>
              </a:rPr>
              <a:t>(SNS</a:t>
            </a:r>
            <a:r>
              <a:rPr lang="ko-KR" altLang="en-US" dirty="0">
                <a:solidFill>
                  <a:schemeClr val="bg2"/>
                </a:solidFill>
              </a:rPr>
              <a:t>기능</a:t>
            </a:r>
            <a:r>
              <a:rPr lang="en-US" altLang="ko-KR" dirty="0">
                <a:solidFill>
                  <a:schemeClr val="bg2"/>
                </a:solidFill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6217575"/>
      </p:ext>
    </p:extLst>
  </p:cSld>
  <p:clrMapOvr>
    <a:masterClrMapping/>
  </p:clrMapOvr>
</p:sld>
</file>

<file path=ppt/theme/theme1.xml><?xml version="1.0" encoding="utf-8"?>
<a:theme xmlns:a="http://schemas.openxmlformats.org/drawingml/2006/main" name="New_3D02">
  <a:themeElements>
    <a:clrScheme name="3D02">
      <a:dk1>
        <a:sysClr val="windowText" lastClr="000000"/>
      </a:dk1>
      <a:lt1>
        <a:sysClr val="window" lastClr="FFFFFF"/>
      </a:lt1>
      <a:dk2>
        <a:srgbClr val="254B75"/>
      </a:dk2>
      <a:lt2>
        <a:srgbClr val="DDE9EC"/>
      </a:lt2>
      <a:accent1>
        <a:srgbClr val="6183BB"/>
      </a:accent1>
      <a:accent2>
        <a:srgbClr val="96DB6F"/>
      </a:accent2>
      <a:accent3>
        <a:srgbClr val="42BCC2"/>
      </a:accent3>
      <a:accent4>
        <a:srgbClr val="EE8F48"/>
      </a:accent4>
      <a:accent5>
        <a:srgbClr val="44C4F2"/>
      </a:accent5>
      <a:accent6>
        <a:srgbClr val="A09158"/>
      </a:accent6>
      <a:hlink>
        <a:srgbClr val="B292CA"/>
      </a:hlink>
      <a:folHlink>
        <a:srgbClr val="6B5680"/>
      </a:folHlink>
    </a:clrScheme>
    <a:fontScheme name="3D02">
      <a:majorFont>
        <a:latin typeface="Arial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Arial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3D0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50000"/>
              </a:schemeClr>
            </a:gs>
            <a:gs pos="35000">
              <a:schemeClr val="phClr">
                <a:tint val="40000"/>
                <a:satMod val="200000"/>
              </a:schemeClr>
            </a:gs>
            <a:gs pos="100000">
              <a:schemeClr val="phClr">
                <a:tint val="15000"/>
                <a:satMod val="200000"/>
              </a:schemeClr>
            </a:gs>
          </a:gsLst>
          <a:lin ang="16200000" scaled="1"/>
        </a:gradFill>
        <a:gradFill rotWithShape="1">
          <a:gsLst>
            <a:gs pos="10000">
              <a:schemeClr val="phClr">
                <a:shade val="40000"/>
                <a:satMod val="200000"/>
              </a:schemeClr>
            </a:gs>
            <a:gs pos="65000">
              <a:schemeClr val="phClr">
                <a:shade val="93000"/>
                <a:satMod val="130000"/>
              </a:schemeClr>
            </a:gs>
            <a:gs pos="100000">
              <a:schemeClr val="phClr">
                <a:tint val="70000"/>
                <a:shade val="100000"/>
                <a:satMod val="20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27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63500" h="57150"/>
          </a:sp3d>
        </a:effectStyle>
        <a:effectStyle>
          <a:effectLst>
            <a:outerShdw blurRad="50800" dist="38100" dir="2700000" rotWithShape="0">
              <a:srgbClr val="000000">
                <a:alpha val="37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88900" h="82550"/>
          </a:sp3d>
        </a:effectStyle>
        <a:effectStyle>
          <a:effectLst>
            <a:outerShdw blurRad="50800" dist="38100" dir="27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114300" h="107950"/>
          </a:sp3d>
        </a:effectStyle>
      </a:effectStyleLst>
      <a:bgFillStyleLst>
        <a:solidFill>
          <a:schemeClr val="phClr"/>
        </a:solidFill>
        <a:gradFill rotWithShape="1">
          <a:gsLst>
            <a:gs pos="7000">
              <a:schemeClr val="phClr">
                <a:tint val="100000"/>
                <a:shade val="60000"/>
                <a:satMod val="180000"/>
              </a:schemeClr>
            </a:gs>
            <a:gs pos="48000">
              <a:schemeClr val="phClr">
                <a:tint val="83000"/>
                <a:shade val="100000"/>
                <a:satMod val="300000"/>
              </a:schemeClr>
            </a:gs>
            <a:gs pos="83000">
              <a:schemeClr val="phClr">
                <a:tint val="99000"/>
                <a:shade val="100000"/>
                <a:satMod val="180000"/>
              </a:schemeClr>
            </a:gs>
            <a:gs pos="100000">
              <a:schemeClr val="phClr">
                <a:shade val="60000"/>
                <a:satMod val="180000"/>
                <a:lumMod val="9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0000"/>
                <a:satMod val="250000"/>
              </a:schemeClr>
            </a:gs>
            <a:gs pos="59000">
              <a:schemeClr val="phClr">
                <a:shade val="80000"/>
                <a:satMod val="130000"/>
              </a:schemeClr>
            </a:gs>
            <a:gs pos="100000">
              <a:schemeClr val="phClr">
                <a:shade val="50000"/>
                <a:satMod val="110000"/>
              </a:schemeClr>
            </a:gs>
          </a:gsLst>
          <a:path path="circle">
            <a:fillToRect l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TM10237557[[fn=디지털 테마]]</Template>
  <TotalTime>938</TotalTime>
  <Words>320</Words>
  <Application>Microsoft Office PowerPoint</Application>
  <PresentationFormat>와이드스크린</PresentationFormat>
  <Paragraphs>33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휴먼편지체</vt:lpstr>
      <vt:lpstr>Arial</vt:lpstr>
      <vt:lpstr>Calibri</vt:lpstr>
      <vt:lpstr>Wingdings</vt:lpstr>
      <vt:lpstr>New_3D02</vt:lpstr>
      <vt:lpstr>네트워크 프로그래밍</vt:lpstr>
      <vt:lpstr>제안서</vt:lpstr>
      <vt:lpstr>PowerPoint 프레젠테이션</vt:lpstr>
      <vt:lpstr>네트워크 프로그래밍</vt:lpstr>
      <vt:lpstr>P들을 위한 추천 여행 스케줄러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네트워크 프로그래밍</dc:title>
  <dc:creator>LG</dc:creator>
  <cp:lastModifiedBy>rosemaridy@naver.com</cp:lastModifiedBy>
  <cp:revision>2</cp:revision>
  <dcterms:created xsi:type="dcterms:W3CDTF">2024-03-24T07:49:01Z</dcterms:created>
  <dcterms:modified xsi:type="dcterms:W3CDTF">2024-03-25T09:00:21Z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